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08541072bb42e8" /><Relationship Type="http://schemas.openxmlformats.org/officeDocument/2006/relationships/extended-properties" Target="/docProps/app.xml" Id="Rb1c95da24c0e43aa" /><Relationship Type="http://schemas.openxmlformats.org/officeDocument/2006/relationships/officeDocument" Target="/ppt/presentation.xml" Id="Rfe155d1b61cc4694" /></Relationships>
</file>

<file path=ppt/presentation.xml><?xml version="1.0" encoding="utf-8"?>
<p:presentation xmlns:p="http://schemas.openxmlformats.org/presentationml/2006/main">
  <p:sldMasterIdLst>
    <p:sldMasterId xmlns:r="http://schemas.openxmlformats.org/officeDocument/2006/relationships" id="2147483648" r:id="R64195afdad4e4c98"/>
  </p:sldMasterIdLst>
  <p:notesMasterIdLst>
    <p:notesMasterId xmlns:r="http://schemas.openxmlformats.org/officeDocument/2006/relationships" r:id="Rfdb57da39c144176"/>
  </p:notesMasterIdLst>
  <p:sldIdLst>
    <p:sldId xmlns:r="http://schemas.openxmlformats.org/officeDocument/2006/relationships" id="256" r:id="R7e6f79d092304f81"/>
    <p:sldId xmlns:r="http://schemas.openxmlformats.org/officeDocument/2006/relationships" id="257" r:id="Rc4f0f746e67d4627"/>
    <p:sldId xmlns:r="http://schemas.openxmlformats.org/officeDocument/2006/relationships" id="258" r:id="Rc5da0b91475e46ad"/>
    <p:sldId xmlns:r="http://schemas.openxmlformats.org/officeDocument/2006/relationships" id="259" r:id="R2f008f7f43f5423b"/>
    <p:sldId xmlns:r="http://schemas.openxmlformats.org/officeDocument/2006/relationships" id="260" r:id="Re4cbe908ce844c5a"/>
    <p:sldId xmlns:r="http://schemas.openxmlformats.org/officeDocument/2006/relationships" id="261" r:id="R440aaa7ccaad44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cc7919658c4efa" /><Relationship Type="http://schemas.openxmlformats.org/officeDocument/2006/relationships/slideMaster" Target="/ppt/slideMasters/slideMaster1.xml" Id="R64195afdad4e4c98" /><Relationship Type="http://schemas.openxmlformats.org/officeDocument/2006/relationships/notesMaster" Target="/ppt/notesMasters/notesMaster1.xml" Id="Rfdb57da39c144176" /><Relationship Type="http://schemas.openxmlformats.org/officeDocument/2006/relationships/presProps" Target="/ppt/presProps.xml" Id="R8073d2385ed44e55" /><Relationship Type="http://schemas.openxmlformats.org/officeDocument/2006/relationships/tableStyles" Target="/ppt/tableStyles.xml" Id="R06854cb0d6cf4196" /><Relationship Type="http://schemas.openxmlformats.org/officeDocument/2006/relationships/slide" Target="/ppt/slides/slide1.xml" Id="R7e6f79d092304f81" /><Relationship Type="http://schemas.openxmlformats.org/officeDocument/2006/relationships/slide" Target="/ppt/slides/slide2.xml" Id="Rc4f0f746e67d4627" /><Relationship Type="http://schemas.openxmlformats.org/officeDocument/2006/relationships/slide" Target="/ppt/slides/slide3.xml" Id="Rc5da0b91475e46ad" /><Relationship Type="http://schemas.openxmlformats.org/officeDocument/2006/relationships/slide" Target="/ppt/slides/slide4.xml" Id="R2f008f7f43f5423b" /><Relationship Type="http://schemas.openxmlformats.org/officeDocument/2006/relationships/slide" Target="/ppt/slides/slide5.xml" Id="Re4cbe908ce844c5a" /><Relationship Type="http://schemas.openxmlformats.org/officeDocument/2006/relationships/slide" Target="/ppt/slides/slide6.xml" Id="R440aaa7ccaad44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5bc58171be47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309b5ce7d14c74" /><Relationship Type="http://schemas.openxmlformats.org/officeDocument/2006/relationships/notesMaster" Target="/ppt/notesMasters/notesMaster1.xml" Id="Rc74748ee2f7e47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62e4572ce84ad4" /><Relationship Type="http://schemas.openxmlformats.org/officeDocument/2006/relationships/notesMaster" Target="/ppt/notesMasters/notesMaster1.xml" Id="R148228f0820746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9de3d580aa4232" /><Relationship Type="http://schemas.openxmlformats.org/officeDocument/2006/relationships/notesMaster" Target="/ppt/notesMasters/notesMaster1.xml" Id="Reab4bc0cd2e241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75855db9ce4046" /><Relationship Type="http://schemas.openxmlformats.org/officeDocument/2006/relationships/notesMaster" Target="/ppt/notesMasters/notesMaster1.xml" Id="Rb37003aa424f46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dd34f32b78432f" /><Relationship Type="http://schemas.openxmlformats.org/officeDocument/2006/relationships/notesMaster" Target="/ppt/notesMasters/notesMaster1.xml" Id="R96185c3e7f3b4c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21c096b58a47b6" /><Relationship Type="http://schemas.openxmlformats.org/officeDocument/2006/relationships/notesMaster" Target="/ppt/notesMasters/notesMaster1.xml" Id="R10613555f4d340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a:t>
            </a:r>
          </a:p>
          <a:p xmlns:a="http://schemas.openxmlformats.org/drawingml/2006/main">
            <a:r>
              <a:t>안녕하세요. 제가 만든 게임은 ‘Rewind Tower: 되감는 시계탑’입니다. 지나온 발자국을 역순으로 되감고, 그 사이 바뀐 세계를 이용해 출구를 찾는 웹 퍼즐 게임입니다.</a:t>
            </a:r>
          </a:p>
          <a:p xmlns:a="http://schemas.openxmlformats.org/drawingml/2006/main">
            <a:r>
              <a:t/>
            </a:r>
          </a:p>
          <a:p xmlns:a="http://schemas.openxmlformats.org/drawingml/2006/main">
            <a:r>
              <a:t>출처: C:\RT\docs\game-plan.md, https://rewind-tower.vercel.app/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a:t>
            </a:r>
          </a:p>
          <a:p xmlns:a="http://schemas.openxmlformats.org/drawingml/2006/main">
            <a:r>
              <a:t>제작 동기는 이동 자체를 퍼즐의 해답으로 만들고 싶었기 때문입니다. 한 번 지나간 길이 사라지는 것이 아니라 기록되고, 되감은 뒤에도 수집과 지형 변화가 남도록 설계했습니다. 그래서 같은 맵에서도 어떤 순서로 움직일지 다시 생각하게 됩니다. 또 이번 프로젝트를 통해 AI와 협업해 기획부터 테스트와 실배포까지 완주해 보고 싶었습니다.</a:t>
            </a:r>
          </a:p>
          <a:p xmlns:a="http://schemas.openxmlformats.org/drawingml/2006/main">
            <a:r>
              <a:t/>
            </a:r>
          </a:p>
          <a:p xmlns:a="http://schemas.openxmlformats.org/drawingml/2006/main">
            <a:r>
              <a:t>출처: C:\RT\docs\game-plan.md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[0:40–1:10]</a:t>
            </a:r>
          </a:p>
          <a:p xmlns:a="http://schemas.openxmlformats.org/drawingml/2006/main">
            <a:r>
              <a:t>플레이는 방향키나 WASD, 모바일에서는 화면 버튼으로 한 칸씩 이동합니다. 각 층의 시간 톱니를 모두 모으면 출구가 열리고, 시간 균열에 들어가면 실패합니다. 톱니를 모으면 점수가 오르고 이동과 되감기에는 점수가 줄어들어 안전하면서도 짧은 경로를 찾게 됩니다. 현재 서로 다른 구조의 10개 스테이지, 순차 해금과 로컬 자동 저장을 지원합니다.</a:t>
            </a:r>
          </a:p>
          <a:p xmlns:a="http://schemas.openxmlformats.org/drawingml/2006/main">
            <a:r>
              <a:t/>
            </a:r>
          </a:p>
          <a:p xmlns:a="http://schemas.openxmlformats.org/drawingml/2006/main">
            <a:r>
              <a:t>출처: C:\RT\docs\game-plan.md §2·§3·§4, C:\RT\tests\artifacts\04-game-desktop.png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[1:10–1:50]</a:t>
            </a:r>
          </a:p>
          <a:p xmlns:a="http://schemas.openxmlformats.org/drawingml/2006/main">
            <a:r>
              <a:t>가장 보여드리고 싶은 기능은 경로 되감기입니다. 모래시계를 얻으면 그 위치가 기준점이 되고, 이후에 실제로 이동한 칸을 모두 기록합니다. R키를 누르면 방금 밟은 칸부터 하나씩 역순으로 돌아갑니다. 같은 칸을 여러 번 지나거나 돌아서 간 경로도 그대로 재생됩니다. 수집한 톱니, 열린 문, 무너진 발판은 복원되지 않기 때문에, 다리를 건너 아이템을 얻은 뒤 발자국만 되감아 붕괴한 다리를 통과해 돌아오는 퍼즐이 가능합니다.</a:t>
            </a:r>
          </a:p>
          <a:p xmlns:a="http://schemas.openxmlformats.org/drawingml/2006/main">
            <a:r>
              <a:t/>
            </a:r>
          </a:p>
          <a:p xmlns:a="http://schemas.openxmlformats.org/drawingml/2006/main">
            <a:r>
              <a:t>시연: 3층에서 모래시계 획득 → 다리 건너 톱니 수집 → R키.</a:t>
            </a:r>
          </a:p>
          <a:p xmlns:a="http://schemas.openxmlformats.org/drawingml/2006/main">
            <a:r>
              <a:t>출처: C:\RT\docs\game-plan.md §2, C:\RT\tests\artifacts\floor-3-desktop.png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[1:50–2:35]</a:t>
            </a:r>
          </a:p>
          <a:p xmlns:a="http://schemas.openxmlformats.org/drawingml/2006/main">
            <a:r>
              <a:t>제작 과정은 다섯 단계로 진행했습니다. 먼저 ChatGPT로 핵심 규칙을 정리해 기획서와 설계서 Markdown 문서를 만들었습니다. 다음으로 이미지와 사운드 파일을 정리하고, 이 문서와 리소스를 Codex에 제공해 10개 맵, 되감기, 저장과 모바일 조작을 구현했습니다. 이후 자동 테스트와 실제 브라우저 플레이로 오류를 재현하고 수정한 뒤 GitHub에 소스를 올리고 Vercel에 배포했습니다. 대표 오류는 Vercel이 public 폴더를 찾지 못한 문제였고, 실제 빌드 폴더가 dist임을 확인해 vercel.json을 수정하면서 해결했습니다.</a:t>
            </a:r>
          </a:p>
          <a:p xmlns:a="http://schemas.openxmlformats.org/drawingml/2006/main">
            <a:r>
              <a:t/>
            </a:r>
          </a:p>
          <a:p xmlns:a="http://schemas.openxmlformats.org/drawingml/2006/main">
            <a:r>
              <a:t>출처: C:\RT\docs\game-plan.md §8·§9, C:\RT\vercel.json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[2:35–3:10]</a:t>
            </a:r>
          </a:p>
          <a:p xmlns:a="http://schemas.openxmlformats.org/drawingml/2006/main">
            <a:r>
              <a:t>게임은 현재 Vercel 주소에서 바로 플레이할 수 있고, GitHub 저장소에는 소스코드와 문서가 올라가 있습니다. 맵을 10개로 늘리고 공중섬, 세로 서고, 나선처럼 구조를 다양화했지만, 직접 플레이해 보니 일부 긴 통로와 비슷한 수집 동선은 아직 부족했습니다. 앞으로 플레이 테스트를 바탕으로 분기와 선택 경로, 목표 배치를 더 다듬겠습니다. 여기에 시간 스위치와 움직이는 다리를 추가해, 지형을 바꾼 뒤 되감아 새 길을 이용하는 퍼즐로 확장하겠습니다. 감사합니다.</a:t>
            </a:r>
          </a:p>
          <a:p xmlns:a="http://schemas.openxmlformats.org/drawingml/2006/main">
            <a:r>
              <a:t/>
            </a:r>
          </a:p>
          <a:p xmlns:a="http://schemas.openxmlformats.org/drawingml/2006/main">
            <a:r>
              <a:t>출처: C:\RT\docs\game-plan.md §3·§10, https://rewind-tower.vercel.app/, https://github.com/sonyeowoon/Rewind-Tower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b7987d621440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541d3615304360" /><Relationship Type="http://schemas.openxmlformats.org/officeDocument/2006/relationships/slideLayout" Target="/ppt/slideLayouts/slideLayout1.xml" Id="Rc622d6878c1a4b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22d6878c1a4b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c6f621151041ab" /><Relationship Type="http://schemas.openxmlformats.org/officeDocument/2006/relationships/image" Target="/ppt/media/image.png" Id="R60914d9340364381" /><Relationship Type="http://schemas.openxmlformats.org/officeDocument/2006/relationships/notesSlide" Target="/ppt/notesSlides/notesSlide1.xml" Id="R4aa93f320aac4d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bce9be228f40f1" /><Relationship Type="http://schemas.openxmlformats.org/officeDocument/2006/relationships/image" Target="/ppt/media/image2.png" Id="Rdf38af2c6e284319" /><Relationship Type="http://schemas.openxmlformats.org/officeDocument/2006/relationships/notesSlide" Target="/ppt/notesSlides/notesSlide2.xml" Id="Re47d7e029fcb40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637bae492443e2" /><Relationship Type="http://schemas.openxmlformats.org/officeDocument/2006/relationships/image" Target="/ppt/media/image3.png" Id="Rf005613df9434d03" /><Relationship Type="http://schemas.openxmlformats.org/officeDocument/2006/relationships/notesSlide" Target="/ppt/notesSlides/notesSlide3.xml" Id="R2a58909793494c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25139396f24cf1" /><Relationship Type="http://schemas.openxmlformats.org/officeDocument/2006/relationships/image" Target="/ppt/media/image4.png" Id="R23e0315525e94ef3" /><Relationship Type="http://schemas.openxmlformats.org/officeDocument/2006/relationships/notesSlide" Target="/ppt/notesSlides/notesSlide4.xml" Id="R5c5d7285e8004e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3702ddf2de4333" /><Relationship Type="http://schemas.openxmlformats.org/officeDocument/2006/relationships/image" Target="/ppt/media/image5.png" Id="R69bb213ba5a44451" /><Relationship Type="http://schemas.openxmlformats.org/officeDocument/2006/relationships/image" Target="/ppt/media/image6.png" Id="Rb644c6df7b434cb6" /><Relationship Type="http://schemas.openxmlformats.org/officeDocument/2006/relationships/notesSlide" Target="/ppt/notesSlides/notesSlide5.xml" Id="R585e189ead5c40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9b303208b34187" /><Relationship Type="http://schemas.openxmlformats.org/officeDocument/2006/relationships/image" Target="/ppt/media/image7.png" Id="Rfcfd731baf3f48f2" /><Relationship Type="http://schemas.openxmlformats.org/officeDocument/2006/relationships/notesSlide" Target="/ppt/notesSlides/notesSlide6.xml" Id="Re0f310ffc1f84f6d" /></Relationships>
</file>

<file path=ppt/slides/slide1.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0914d934036438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8F7632-7922-433F-8352-72CD7C75F5E3}"/>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712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ACCE4F-81FC-4E38-96BE-7A34DB366AB3}"/>
              </a:ext>
            </a:extLst>
          </p:cNvPr>
          <p:cNvSpPr>
            <a:spLocks xmlns:a="http://schemas.openxmlformats.org/drawingml/2006/main" noGrp="1"/>
          </p:cNvSpPr>
          <p:nvPr/>
        </p:nvSpPr>
        <p:spPr>
          <a:xfrm xmlns:a="http://schemas.openxmlformats.org/drawingml/2006/main">
            <a:off x="685800" y="7429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바이브코딩 웹 게임 결과 발표</a:t>
            </a:r>
          </a:p>
        </p:txBody>
      </p:sp>
      <p:sp>
        <p:nvSpPr>
          <p:cNvPr id="4" name="">
            <a:extLst xmlns:a="http://schemas.openxmlformats.org/drawingml/2006/main">
              <a:ext uri="{FF2B5EF4-FFF2-40B4-BE49-F238E27FC236}">
                <a16:creationId xmlns:a16="http://schemas.microsoft.com/office/drawing/2014/main" id="{747593A1-26CC-48ED-9F8D-412297503A76}"/>
              </a:ext>
            </a:extLst>
          </p:cNvPr>
          <p:cNvSpPr>
            <a:spLocks xmlns:a="http://schemas.openxmlformats.org/drawingml/2006/main" noGrp="1"/>
          </p:cNvSpPr>
          <p:nvPr/>
        </p:nvSpPr>
        <p:spPr>
          <a:xfrm xmlns:a="http://schemas.openxmlformats.org/drawingml/2006/main">
            <a:off x="685800" y="1200150"/>
            <a:ext cx="5334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350" b="1">
                <a:solidFill>
                  <a:srgbClr val="F5F1E8"/>
                </a:solidFill>
                <a:latin typeface="Noto Sans KR"/>
                <a:ea typeface="Noto Sans KR"/>
                <a:cs typeface="Noto Sans KR"/>
              </a:defRPr>
            </a:pPr>
            <a:r>
              <a:rPr sz="4350" b="1">
                <a:solidFill>
                  <a:srgbClr val="F5F1E8"/>
                </a:solidFill>
                <a:latin typeface="Noto Sans KR"/>
                <a:ea typeface="Noto Sans KR"/>
                <a:cs typeface="Noto Sans KR"/>
              </a:rPr>
              <a:t>REWIND</a:t>
            </a:r>
          </a:p>
          <a:p xmlns:a="http://schemas.openxmlformats.org/drawingml/2006/main">
            <a:pPr algn="l">
              <a:defRPr sz="4350" b="1">
                <a:solidFill>
                  <a:srgbClr val="F5F1E8"/>
                </a:solidFill>
                <a:latin typeface="Noto Sans KR"/>
                <a:ea typeface="Noto Sans KR"/>
                <a:cs typeface="Noto Sans KR"/>
              </a:defRPr>
            </a:pPr>
            <a:r>
              <a:rPr sz="4350" b="1">
                <a:solidFill>
                  <a:srgbClr val="F5F1E8"/>
                </a:solidFill>
                <a:latin typeface="Noto Sans KR"/>
                <a:ea typeface="Noto Sans KR"/>
                <a:cs typeface="Noto Sans KR"/>
              </a:rPr>
              <a:t>TOWER</a:t>
            </a:r>
          </a:p>
        </p:txBody>
      </p:sp>
      <p:sp>
        <p:nvSpPr>
          <p:cNvPr id="5" name="">
            <a:extLst xmlns:a="http://schemas.openxmlformats.org/drawingml/2006/main">
              <a:ext uri="{FF2B5EF4-FFF2-40B4-BE49-F238E27FC236}">
                <a16:creationId xmlns:a16="http://schemas.microsoft.com/office/drawing/2014/main" id="{A422F3AB-7D38-477A-AF4B-3D0181E99CCF}"/>
              </a:ext>
            </a:extLst>
          </p:cNvPr>
          <p:cNvSpPr>
            <a:spLocks xmlns:a="http://schemas.openxmlformats.org/drawingml/2006/main" noGrp="1"/>
          </p:cNvSpPr>
          <p:nvPr/>
        </p:nvSpPr>
        <p:spPr>
          <a:xfrm xmlns:a="http://schemas.openxmlformats.org/drawingml/2006/main">
            <a:off x="704850" y="2952750"/>
            <a:ext cx="781050" cy="3810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53BEA0-9B48-44CB-AAD0-00B8F4E67644}"/>
              </a:ext>
            </a:extLst>
          </p:cNvPr>
          <p:cNvSpPr>
            <a:spLocks xmlns:a="http://schemas.openxmlformats.org/drawingml/2006/main" noGrp="1"/>
          </p:cNvSpPr>
          <p:nvPr/>
        </p:nvSpPr>
        <p:spPr>
          <a:xfrm xmlns:a="http://schemas.openxmlformats.org/drawingml/2006/main">
            <a:off x="685800" y="3276600"/>
            <a:ext cx="5219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F5F1E8"/>
                </a:solidFill>
                <a:latin typeface="Noto Sans KR"/>
                <a:ea typeface="Noto Sans KR"/>
                <a:cs typeface="Noto Sans KR"/>
              </a:defRPr>
            </a:pPr>
            <a:r>
              <a:rPr sz="1875" b="0">
                <a:solidFill>
                  <a:srgbClr val="F5F1E8"/>
                </a:solidFill>
                <a:latin typeface="Noto Sans KR"/>
                <a:ea typeface="Noto Sans KR"/>
                <a:cs typeface="Noto Sans KR"/>
              </a:rPr>
              <a:t>지나온 길을 역순으로 되감고,</a:t>
            </a:r>
          </a:p>
          <a:p xmlns:a="http://schemas.openxmlformats.org/drawingml/2006/main">
            <a:pPr algn="l">
              <a:defRPr sz="1875" b="0">
                <a:solidFill>
                  <a:srgbClr val="F5F1E8"/>
                </a:solidFill>
                <a:latin typeface="Noto Sans KR"/>
                <a:ea typeface="Noto Sans KR"/>
                <a:cs typeface="Noto Sans KR"/>
              </a:defRPr>
            </a:pPr>
            <a:r>
              <a:rPr sz="1875" b="0">
                <a:solidFill>
                  <a:srgbClr val="F5F1E8"/>
                </a:solidFill>
                <a:latin typeface="Noto Sans KR"/>
                <a:ea typeface="Noto Sans KR"/>
                <a:cs typeface="Noto Sans KR"/>
              </a:rPr>
              <a:t>바뀐 세계를 이용해 탈출하는 퍼즐</a:t>
            </a:r>
          </a:p>
        </p:txBody>
      </p:sp>
      <p:sp>
        <p:nvSpPr>
          <p:cNvPr id="7" name="">
            <a:extLst xmlns:a="http://schemas.openxmlformats.org/drawingml/2006/main">
              <a:ext uri="{FF2B5EF4-FFF2-40B4-BE49-F238E27FC236}">
                <a16:creationId xmlns:a16="http://schemas.microsoft.com/office/drawing/2014/main" id="{7E5E3F2B-782F-4039-8FB4-33C717A0E077}"/>
              </a:ext>
            </a:extLst>
          </p:cNvPr>
          <p:cNvSpPr>
            <a:spLocks xmlns:a="http://schemas.openxmlformats.org/drawingml/2006/main" noGrp="1"/>
          </p:cNvSpPr>
          <p:nvPr/>
        </p:nvSpPr>
        <p:spPr>
          <a:xfrm xmlns:a="http://schemas.openxmlformats.org/drawingml/2006/main">
            <a:off x="685800" y="46672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D8B35E"/>
                </a:solidFill>
                <a:latin typeface="Noto Sans KR"/>
                <a:ea typeface="Noto Sans KR"/>
                <a:cs typeface="Noto Sans KR"/>
              </a:defRPr>
            </a:pPr>
            <a:r>
              <a:rPr sz="1350" b="1">
                <a:solidFill>
                  <a:srgbClr val="D8B35E"/>
                </a:solidFill>
                <a:latin typeface="Noto Sans KR"/>
                <a:ea typeface="Noto Sans KR"/>
                <a:cs typeface="Noto Sans KR"/>
              </a:rPr>
              <a:t>서상희</a:t>
            </a:r>
          </a:p>
        </p:txBody>
      </p:sp>
      <p:sp>
        <p:nvSpPr>
          <p:cNvPr id="8" name="">
            <a:extLst xmlns:a="http://schemas.openxmlformats.org/drawingml/2006/main">
              <a:ext uri="{FF2B5EF4-FFF2-40B4-BE49-F238E27FC236}">
                <a16:creationId xmlns:a16="http://schemas.microsoft.com/office/drawing/2014/main" id="{B1FD26AD-802E-44DB-BE96-6C97B9FB9B2F}"/>
              </a:ext>
            </a:extLst>
          </p:cNvPr>
          <p:cNvSpPr>
            <a:spLocks xmlns:a="http://schemas.openxmlformats.org/drawingml/2006/main" noGrp="1"/>
          </p:cNvSpPr>
          <p:nvPr/>
        </p:nvSpPr>
        <p:spPr>
          <a:xfrm xmlns:a="http://schemas.openxmlformats.org/drawingml/2006/main">
            <a:off x="685800" y="51054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Codex 개발  ·  GitHub 소스 관리  ·  Vercel 배포</a:t>
            </a:r>
          </a:p>
        </p:txBody>
      </p:sp>
      <p:sp>
        <p:nvSpPr>
          <p:cNvPr id="9" name="">
            <a:extLst xmlns:a="http://schemas.openxmlformats.org/drawingml/2006/main">
              <a:ext uri="{FF2B5EF4-FFF2-40B4-BE49-F238E27FC236}">
                <a16:creationId xmlns:a16="http://schemas.microsoft.com/office/drawing/2014/main" id="{BB3AE4A0-620F-47C8-B8E3-AA1A9A35748D}"/>
              </a:ext>
            </a:extLst>
          </p:cNvPr>
          <p:cNvSpPr>
            <a:spLocks xmlns:a="http://schemas.openxmlformats.org/drawingml/2006/main" noGrp="1"/>
          </p:cNvSpPr>
          <p:nvPr/>
        </p:nvSpPr>
        <p:spPr>
          <a:xfrm xmlns:a="http://schemas.openxmlformats.org/drawingml/2006/main">
            <a:off x="685800" y="58293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rewind-tower.vercel.app</a:t>
            </a:r>
          </a:p>
        </p:txBody>
      </p:sp>
    </p:spTree>
    <p:extLst>
      <p:ext uri="{BB962C8B-B14F-4D97-AF65-F5344CB8AC3E}">
        <p14:creationId xmlns:p14="http://schemas.microsoft.com/office/powerpoint/2010/main" val="531889349"/>
      </p:ext>
    </p:extLst>
  </p:cSld>
</p:sld>
</file>

<file path=ppt/slides/slide2.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9DB7F3-1AE2-4B71-8D9C-8D099C32B240}"/>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제작 동기</a:t>
            </a:r>
          </a:p>
        </p:txBody>
      </p:sp>
      <p:sp>
        <p:nvSpPr>
          <p:cNvPr id="2" name="">
            <a:extLst xmlns:a="http://schemas.openxmlformats.org/drawingml/2006/main">
              <a:ext uri="{FF2B5EF4-FFF2-40B4-BE49-F238E27FC236}">
                <a16:creationId xmlns:a16="http://schemas.microsoft.com/office/drawing/2014/main" id="{3BAE03E5-8222-4B68-A8CF-2CD381407FDF}"/>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이동 자체가 기억에 남는 퍼즐을 만들고 싶었습니다</a:t>
            </a:r>
          </a:p>
        </p:txBody>
      </p:sp>
      <p:sp>
        <p:nvSpPr>
          <p:cNvPr id="3" name="">
            <a:extLst xmlns:a="http://schemas.openxmlformats.org/drawingml/2006/main">
              <a:ext uri="{FF2B5EF4-FFF2-40B4-BE49-F238E27FC236}">
                <a16:creationId xmlns:a16="http://schemas.microsoft.com/office/drawing/2014/main" id="{515401DA-7FB6-4189-B8AE-D865A27366B7}"/>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f38af2c6e284319"/>
          <a:srcRect xmlns:a="http://schemas.openxmlformats.org/drawingml/2006/main" l="10271" t="0" r="10271" b="0"/>
          <a:stretch xmlns:a="http://schemas.openxmlformats.org/drawingml/2006/main">
            <a:fillRect l="0" t="0" r="0" b="0"/>
          </a:stretch>
        </p:blipFill>
        <p:spPr>
          <a:xfrm xmlns:a="http://schemas.openxmlformats.org/drawingml/2006/main">
            <a:off x="5848350" y="1466850"/>
            <a:ext cx="573405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E22A328-1663-4EC4-ADFF-848389BC6C62}"/>
              </a:ext>
            </a:extLst>
          </p:cNvPr>
          <p:cNvSpPr>
            <a:spLocks xmlns:a="http://schemas.openxmlformats.org/drawingml/2006/main" noGrp="1"/>
          </p:cNvSpPr>
          <p:nvPr/>
        </p:nvSpPr>
        <p:spPr>
          <a:xfrm xmlns:a="http://schemas.openxmlformats.org/drawingml/2006/main">
            <a:off x="685800" y="16954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D8B35E"/>
                </a:solidFill>
                <a:latin typeface="Noto Sans KR"/>
                <a:ea typeface="Noto Sans KR"/>
                <a:cs typeface="Noto Sans KR"/>
              </a:defRPr>
            </a:pPr>
            <a:r>
              <a:rPr sz="1200" b="1">
                <a:solidFill>
                  <a:srgbClr val="D8B35E"/>
                </a:solidFill>
                <a:latin typeface="Noto Sans KR"/>
                <a:ea typeface="Noto Sans KR"/>
                <a:cs typeface="Noto Sans KR"/>
              </a:rPr>
              <a:t>경로 선택</a:t>
            </a:r>
          </a:p>
        </p:txBody>
      </p:sp>
      <p:sp>
        <p:nvSpPr>
          <p:cNvPr id="6" name="">
            <a:extLst xmlns:a="http://schemas.openxmlformats.org/drawingml/2006/main">
              <a:ext uri="{FF2B5EF4-FFF2-40B4-BE49-F238E27FC236}">
                <a16:creationId xmlns:a16="http://schemas.microsoft.com/office/drawing/2014/main" id="{D83FE8E7-51E5-48F7-9503-94BFE49A8B81}"/>
              </a:ext>
            </a:extLst>
          </p:cNvPr>
          <p:cNvSpPr>
            <a:spLocks xmlns:a="http://schemas.openxmlformats.org/drawingml/2006/main" noGrp="1"/>
          </p:cNvSpPr>
          <p:nvPr/>
        </p:nvSpPr>
        <p:spPr>
          <a:xfrm xmlns:a="http://schemas.openxmlformats.org/drawingml/2006/main">
            <a:off x="685800" y="20288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한 번 지나간 길이 다음 판단에 영향을 주는 퍼즐</a:t>
            </a:r>
          </a:p>
        </p:txBody>
      </p:sp>
      <p:sp>
        <p:nvSpPr>
          <p:cNvPr id="7" name="">
            <a:extLst xmlns:a="http://schemas.openxmlformats.org/drawingml/2006/main">
              <a:ext uri="{FF2B5EF4-FFF2-40B4-BE49-F238E27FC236}">
                <a16:creationId xmlns:a16="http://schemas.microsoft.com/office/drawing/2014/main" id="{99DA3313-7A53-4410-A592-675AE2C760AD}"/>
              </a:ext>
            </a:extLst>
          </p:cNvPr>
          <p:cNvSpPr>
            <a:spLocks xmlns:a="http://schemas.openxmlformats.org/drawingml/2006/main" noGrp="1"/>
          </p:cNvSpPr>
          <p:nvPr/>
        </p:nvSpPr>
        <p:spPr>
          <a:xfrm xmlns:a="http://schemas.openxmlformats.org/drawingml/2006/main">
            <a:off x="685800" y="2628900"/>
            <a:ext cx="44767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D2C290-54D5-458B-8BD0-1FF697CA2398}"/>
              </a:ext>
            </a:extLst>
          </p:cNvPr>
          <p:cNvSpPr>
            <a:spLocks xmlns:a="http://schemas.openxmlformats.org/drawingml/2006/main" noGrp="1"/>
          </p:cNvSpPr>
          <p:nvPr/>
        </p:nvSpPr>
        <p:spPr>
          <a:xfrm xmlns:a="http://schemas.openxmlformats.org/drawingml/2006/main">
            <a:off x="685800" y="28003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세계의 변화</a:t>
            </a:r>
          </a:p>
        </p:txBody>
      </p:sp>
      <p:sp>
        <p:nvSpPr>
          <p:cNvPr id="9" name="">
            <a:extLst xmlns:a="http://schemas.openxmlformats.org/drawingml/2006/main">
              <a:ext uri="{FF2B5EF4-FFF2-40B4-BE49-F238E27FC236}">
                <a16:creationId xmlns:a16="http://schemas.microsoft.com/office/drawing/2014/main" id="{09786AEE-A43F-4050-BC6C-77119B2FCFCB}"/>
              </a:ext>
            </a:extLst>
          </p:cNvPr>
          <p:cNvSpPr>
            <a:spLocks xmlns:a="http://schemas.openxmlformats.org/drawingml/2006/main" noGrp="1"/>
          </p:cNvSpPr>
          <p:nvPr/>
        </p:nvSpPr>
        <p:spPr>
          <a:xfrm xmlns:a="http://schemas.openxmlformats.org/drawingml/2006/main">
            <a:off x="685800" y="31337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되감아도 수집과 지형 변화가 남는 규칙</a:t>
            </a:r>
          </a:p>
        </p:txBody>
      </p:sp>
      <p:sp>
        <p:nvSpPr>
          <p:cNvPr id="10" name="">
            <a:extLst xmlns:a="http://schemas.openxmlformats.org/drawingml/2006/main">
              <a:ext uri="{FF2B5EF4-FFF2-40B4-BE49-F238E27FC236}">
                <a16:creationId xmlns:a16="http://schemas.microsoft.com/office/drawing/2014/main" id="{2F0666FA-819C-406C-BA42-325353C4EA21}"/>
              </a:ext>
            </a:extLst>
          </p:cNvPr>
          <p:cNvSpPr>
            <a:spLocks xmlns:a="http://schemas.openxmlformats.org/drawingml/2006/main" noGrp="1"/>
          </p:cNvSpPr>
          <p:nvPr/>
        </p:nvSpPr>
        <p:spPr>
          <a:xfrm xmlns:a="http://schemas.openxmlformats.org/drawingml/2006/main">
            <a:off x="685800" y="3733800"/>
            <a:ext cx="44767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A8AA0E-868A-44EE-A74C-4880382EA1ED}"/>
              </a:ext>
            </a:extLst>
          </p:cNvPr>
          <p:cNvSpPr>
            <a:spLocks xmlns:a="http://schemas.openxmlformats.org/drawingml/2006/main" noGrp="1"/>
          </p:cNvSpPr>
          <p:nvPr/>
        </p:nvSpPr>
        <p:spPr>
          <a:xfrm xmlns:a="http://schemas.openxmlformats.org/drawingml/2006/main">
            <a:off x="685800" y="3905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D8B35E"/>
                </a:solidFill>
                <a:latin typeface="Noto Sans KR"/>
                <a:ea typeface="Noto Sans KR"/>
                <a:cs typeface="Noto Sans KR"/>
              </a:defRPr>
            </a:pPr>
            <a:r>
              <a:rPr sz="1200" b="1">
                <a:solidFill>
                  <a:srgbClr val="D8B35E"/>
                </a:solidFill>
                <a:latin typeface="Noto Sans KR"/>
                <a:ea typeface="Noto Sans KR"/>
                <a:cs typeface="Noto Sans KR"/>
              </a:rPr>
              <a:t>AI 협업</a:t>
            </a:r>
          </a:p>
        </p:txBody>
      </p:sp>
      <p:sp>
        <p:nvSpPr>
          <p:cNvPr id="12" name="">
            <a:extLst xmlns:a="http://schemas.openxmlformats.org/drawingml/2006/main">
              <a:ext uri="{FF2B5EF4-FFF2-40B4-BE49-F238E27FC236}">
                <a16:creationId xmlns:a16="http://schemas.microsoft.com/office/drawing/2014/main" id="{91CEC901-339F-4F7E-A5D1-AA44A3EEB3ED}"/>
              </a:ext>
            </a:extLst>
          </p:cNvPr>
          <p:cNvSpPr>
            <a:spLocks xmlns:a="http://schemas.openxmlformats.org/drawingml/2006/main" noGrp="1"/>
          </p:cNvSpPr>
          <p:nvPr/>
        </p:nvSpPr>
        <p:spPr>
          <a:xfrm xmlns:a="http://schemas.openxmlformats.org/drawingml/2006/main">
            <a:off x="685800" y="42386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기획부터 테스트와 실배포까지 직접 완주</a:t>
            </a:r>
          </a:p>
        </p:txBody>
      </p:sp>
      <p:sp>
        <p:nvSpPr>
          <p:cNvPr id="13" name="">
            <a:extLst xmlns:a="http://schemas.openxmlformats.org/drawingml/2006/main">
              <a:ext uri="{FF2B5EF4-FFF2-40B4-BE49-F238E27FC236}">
                <a16:creationId xmlns:a16="http://schemas.microsoft.com/office/drawing/2014/main" id="{F73B05E9-D7AE-4ECE-8C17-0E4C20857FDE}"/>
              </a:ext>
            </a:extLst>
          </p:cNvPr>
          <p:cNvSpPr>
            <a:spLocks xmlns:a="http://schemas.openxmlformats.org/drawingml/2006/main" noGrp="1"/>
          </p:cNvSpPr>
          <p:nvPr/>
        </p:nvSpPr>
        <p:spPr>
          <a:xfrm xmlns:a="http://schemas.openxmlformats.org/drawingml/2006/main">
            <a:off x="685800" y="5105400"/>
            <a:ext cx="4476750" cy="781050"/>
          </a:xfrm>
          <a:prstGeom xmlns:a="http://schemas.openxmlformats.org/drawingml/2006/main" prst="roundRect">
            <a:avLst>
              <a:gd name="adj" fmla="val 14634"/>
            </a:avLst>
          </a:prstGeom>
          <a:solidFill xmlns:a="http://schemas.openxmlformats.org/drawingml/2006/main">
            <a:srgbClr val="14233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4C252A7-CA4E-4B9A-9987-0C568327B854}"/>
              </a:ext>
            </a:extLst>
          </p:cNvPr>
          <p:cNvSpPr>
            <a:spLocks xmlns:a="http://schemas.openxmlformats.org/drawingml/2006/main" noGrp="1"/>
          </p:cNvSpPr>
          <p:nvPr/>
        </p:nvSpPr>
        <p:spPr>
          <a:xfrm xmlns:a="http://schemas.openxmlformats.org/drawingml/2006/main">
            <a:off x="895350" y="5295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목표</a:t>
            </a:r>
          </a:p>
        </p:txBody>
      </p:sp>
      <p:sp>
        <p:nvSpPr>
          <p:cNvPr id="15" name="">
            <a:extLst xmlns:a="http://schemas.openxmlformats.org/drawingml/2006/main">
              <a:ext uri="{FF2B5EF4-FFF2-40B4-BE49-F238E27FC236}">
                <a16:creationId xmlns:a16="http://schemas.microsoft.com/office/drawing/2014/main" id="{5A0126D7-2178-4C0A-9B36-192AC8D7D706}"/>
              </a:ext>
            </a:extLst>
          </p:cNvPr>
          <p:cNvSpPr>
            <a:spLocks xmlns:a="http://schemas.openxmlformats.org/drawingml/2006/main" noGrp="1"/>
          </p:cNvSpPr>
          <p:nvPr/>
        </p:nvSpPr>
        <p:spPr>
          <a:xfrm xmlns:a="http://schemas.openxmlformats.org/drawingml/2006/main">
            <a:off x="1562100" y="5276850"/>
            <a:ext cx="3295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F5F1E8"/>
                </a:solidFill>
                <a:latin typeface="Noto Sans KR"/>
                <a:ea typeface="Noto Sans KR"/>
                <a:cs typeface="Noto Sans KR"/>
              </a:defRPr>
            </a:pPr>
            <a:r>
              <a:rPr sz="1275" b="1">
                <a:solidFill>
                  <a:srgbClr val="F5F1E8"/>
                </a:solidFill>
                <a:latin typeface="Noto Sans KR"/>
                <a:ea typeface="Noto Sans KR"/>
                <a:cs typeface="Noto Sans KR"/>
              </a:rPr>
              <a:t>짧게 배워도 다시 풀고 싶은 웹 퍼즐</a:t>
            </a:r>
          </a:p>
        </p:txBody>
      </p:sp>
      <p:sp>
        <p:nvSpPr>
          <p:cNvPr id="16" name="">
            <a:extLst xmlns:a="http://schemas.openxmlformats.org/drawingml/2006/main">
              <a:ext uri="{FF2B5EF4-FFF2-40B4-BE49-F238E27FC236}">
                <a16:creationId xmlns:a16="http://schemas.microsoft.com/office/drawing/2014/main" id="{04EA3097-CDDE-471D-82B9-3096723C9CB2}"/>
              </a:ext>
            </a:extLst>
          </p:cNvPr>
          <p:cNvSpPr>
            <a:spLocks xmlns:a="http://schemas.openxmlformats.org/drawingml/2006/main" noGrp="1"/>
          </p:cNvSpPr>
          <p:nvPr/>
        </p:nvSpPr>
        <p:spPr>
          <a:xfrm xmlns:a="http://schemas.openxmlformats.org/drawingml/2006/main">
            <a:off x="895350" y="5581650"/>
            <a:ext cx="396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l">
              <a:defRPr sz="975" b="0">
                <a:solidFill>
                  <a:srgbClr val="A9B7C7"/>
                </a:solidFill>
                <a:latin typeface="Noto Sans KR"/>
                <a:ea typeface="Noto Sans KR"/>
                <a:cs typeface="Noto Sans KR"/>
              </a:defRPr>
            </a:pPr>
            <a:r>
              <a:rPr sz="975" b="0">
                <a:solidFill>
                  <a:srgbClr val="A9B7C7"/>
                </a:solidFill>
                <a:latin typeface="Noto Sans KR"/>
                <a:ea typeface="Noto Sans KR"/>
                <a:cs typeface="Noto Sans KR"/>
              </a:rPr>
              <a:t>같은 맵에서도 더 좋은 경로를 찾게 설계했습니다.</a:t>
            </a:r>
          </a:p>
        </p:txBody>
      </p:sp>
      <p:sp>
        <p:nvSpPr>
          <p:cNvPr id="17" name="">
            <a:extLst xmlns:a="http://schemas.openxmlformats.org/drawingml/2006/main">
              <a:ext uri="{FF2B5EF4-FFF2-40B4-BE49-F238E27FC236}">
                <a16:creationId xmlns:a16="http://schemas.microsoft.com/office/drawing/2014/main" id="{3ABBBEB7-5FC7-407A-99D1-CA49D1102FA0}"/>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02</a:t>
            </a:r>
          </a:p>
        </p:txBody>
      </p:sp>
    </p:spTree>
    <p:extLst>
      <p:ext uri="{BB962C8B-B14F-4D97-AF65-F5344CB8AC3E}">
        <p14:creationId xmlns:p14="http://schemas.microsoft.com/office/powerpoint/2010/main" val="387511551"/>
      </p:ext>
    </p:extLst>
  </p:cSld>
</p:sld>
</file>

<file path=ppt/slides/slide3.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86EAEF3-CDDD-45F7-A7F5-240631B608A1}"/>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플레이 방법</a:t>
            </a:r>
          </a:p>
        </p:txBody>
      </p:sp>
      <p:sp>
        <p:nvSpPr>
          <p:cNvPr id="2" name="">
            <a:extLst xmlns:a="http://schemas.openxmlformats.org/drawingml/2006/main">
              <a:ext uri="{FF2B5EF4-FFF2-40B4-BE49-F238E27FC236}">
                <a16:creationId xmlns:a16="http://schemas.microsoft.com/office/drawing/2014/main" id="{7EAF3946-AF0D-44A6-84A2-1C48FA449D50}"/>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톱니를 모아 출구를 열고 시계탑을 오릅니다</a:t>
            </a:r>
          </a:p>
        </p:txBody>
      </p:sp>
      <p:sp>
        <p:nvSpPr>
          <p:cNvPr id="3" name="">
            <a:extLst xmlns:a="http://schemas.openxmlformats.org/drawingml/2006/main">
              <a:ext uri="{FF2B5EF4-FFF2-40B4-BE49-F238E27FC236}">
                <a16:creationId xmlns:a16="http://schemas.microsoft.com/office/drawing/2014/main" id="{23122A4B-19CD-4A8E-89DF-DB760B8815BC}"/>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005613df9434d03"/>
          <a:srcRect xmlns:a="http://schemas.openxmlformats.org/drawingml/2006/main" l="0" t="4516" r="0" b="4516"/>
          <a:stretch xmlns:a="http://schemas.openxmlformats.org/drawingml/2006/main">
            <a:fillRect l="0" t="0" r="0" b="0"/>
          </a:stretch>
        </p:blipFill>
        <p:spPr>
          <a:xfrm xmlns:a="http://schemas.openxmlformats.org/drawingml/2006/main">
            <a:off x="5124450" y="1466850"/>
            <a:ext cx="645795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4745A61-74F0-4616-AE02-33035FC715BE}"/>
              </a:ext>
            </a:extLst>
          </p:cNvPr>
          <p:cNvSpPr>
            <a:spLocks xmlns:a="http://schemas.openxmlformats.org/drawingml/2006/main" noGrp="1"/>
          </p:cNvSpPr>
          <p:nvPr/>
        </p:nvSpPr>
        <p:spPr>
          <a:xfrm xmlns:a="http://schemas.openxmlformats.org/drawingml/2006/main">
            <a:off x="685800" y="16573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MOVE</a:t>
            </a:r>
          </a:p>
        </p:txBody>
      </p:sp>
      <p:sp>
        <p:nvSpPr>
          <p:cNvPr id="6" name="">
            <a:extLst xmlns:a="http://schemas.openxmlformats.org/drawingml/2006/main">
              <a:ext uri="{FF2B5EF4-FFF2-40B4-BE49-F238E27FC236}">
                <a16:creationId xmlns:a16="http://schemas.microsoft.com/office/drawing/2014/main" id="{D88E9717-939D-440B-815C-37B198B63ECD}"/>
              </a:ext>
            </a:extLst>
          </p:cNvPr>
          <p:cNvSpPr>
            <a:spLocks xmlns:a="http://schemas.openxmlformats.org/drawingml/2006/main" noGrp="1"/>
          </p:cNvSpPr>
          <p:nvPr/>
        </p:nvSpPr>
        <p:spPr>
          <a:xfrm xmlns:a="http://schemas.openxmlformats.org/drawingml/2006/main">
            <a:off x="685800" y="19240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방향키 · WASD · 화면 버튼</a:t>
            </a:r>
          </a:p>
        </p:txBody>
      </p:sp>
      <p:sp>
        <p:nvSpPr>
          <p:cNvPr id="7" name="">
            <a:extLst xmlns:a="http://schemas.openxmlformats.org/drawingml/2006/main">
              <a:ext uri="{FF2B5EF4-FFF2-40B4-BE49-F238E27FC236}">
                <a16:creationId xmlns:a16="http://schemas.microsoft.com/office/drawing/2014/main" id="{3CA4A63A-AD7F-4DCD-8951-8D89C054256B}"/>
              </a:ext>
            </a:extLst>
          </p:cNvPr>
          <p:cNvSpPr>
            <a:spLocks xmlns:a="http://schemas.openxmlformats.org/drawingml/2006/main" noGrp="1"/>
          </p:cNvSpPr>
          <p:nvPr/>
        </p:nvSpPr>
        <p:spPr>
          <a:xfrm xmlns:a="http://schemas.openxmlformats.org/drawingml/2006/main">
            <a:off x="685800" y="2438400"/>
            <a:ext cx="38671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E1AD9A-B242-4EA6-A6CB-92F6976FA62E}"/>
              </a:ext>
            </a:extLst>
          </p:cNvPr>
          <p:cNvSpPr>
            <a:spLocks xmlns:a="http://schemas.openxmlformats.org/drawingml/2006/main" noGrp="1"/>
          </p:cNvSpPr>
          <p:nvPr/>
        </p:nvSpPr>
        <p:spPr>
          <a:xfrm xmlns:a="http://schemas.openxmlformats.org/drawingml/2006/main">
            <a:off x="685800" y="260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GOAL</a:t>
            </a:r>
          </a:p>
        </p:txBody>
      </p:sp>
      <p:sp>
        <p:nvSpPr>
          <p:cNvPr id="9" name="">
            <a:extLst xmlns:a="http://schemas.openxmlformats.org/drawingml/2006/main">
              <a:ext uri="{FF2B5EF4-FFF2-40B4-BE49-F238E27FC236}">
                <a16:creationId xmlns:a16="http://schemas.microsoft.com/office/drawing/2014/main" id="{373EAA7F-8941-42DE-AE8F-6072B202CEF9}"/>
              </a:ext>
            </a:extLst>
          </p:cNvPr>
          <p:cNvSpPr>
            <a:spLocks xmlns:a="http://schemas.openxmlformats.org/drawingml/2006/main" noGrp="1"/>
          </p:cNvSpPr>
          <p:nvPr/>
        </p:nvSpPr>
        <p:spPr>
          <a:xfrm xmlns:a="http://schemas.openxmlformats.org/drawingml/2006/main">
            <a:off x="685800" y="28765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시간 톱니를 모두 모으면 출구 개방</a:t>
            </a:r>
          </a:p>
        </p:txBody>
      </p:sp>
      <p:sp>
        <p:nvSpPr>
          <p:cNvPr id="10" name="">
            <a:extLst xmlns:a="http://schemas.openxmlformats.org/drawingml/2006/main">
              <a:ext uri="{FF2B5EF4-FFF2-40B4-BE49-F238E27FC236}">
                <a16:creationId xmlns:a16="http://schemas.microsoft.com/office/drawing/2014/main" id="{68DC0901-EF03-42CF-A6F9-E19582F38F52}"/>
              </a:ext>
            </a:extLst>
          </p:cNvPr>
          <p:cNvSpPr>
            <a:spLocks xmlns:a="http://schemas.openxmlformats.org/drawingml/2006/main" noGrp="1"/>
          </p:cNvSpPr>
          <p:nvPr/>
        </p:nvSpPr>
        <p:spPr>
          <a:xfrm xmlns:a="http://schemas.openxmlformats.org/drawingml/2006/main">
            <a:off x="685800" y="3390900"/>
            <a:ext cx="38671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FBFC60-646A-4FE3-9718-3A3DC6950110}"/>
              </a:ext>
            </a:extLst>
          </p:cNvPr>
          <p:cNvSpPr>
            <a:spLocks xmlns:a="http://schemas.openxmlformats.org/drawingml/2006/main" noGrp="1"/>
          </p:cNvSpPr>
          <p:nvPr/>
        </p:nvSpPr>
        <p:spPr>
          <a:xfrm xmlns:a="http://schemas.openxmlformats.org/drawingml/2006/main">
            <a:off x="685800" y="35623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78DCE8"/>
                </a:solidFill>
                <a:latin typeface="Noto Sans KR"/>
                <a:ea typeface="Noto Sans KR"/>
                <a:cs typeface="Noto Sans KR"/>
              </a:defRPr>
            </a:pPr>
            <a:r>
              <a:rPr sz="900" b="1">
                <a:solidFill>
                  <a:srgbClr val="78DCE8"/>
                </a:solidFill>
                <a:latin typeface="Noto Sans KR"/>
                <a:ea typeface="Noto Sans KR"/>
                <a:cs typeface="Noto Sans KR"/>
              </a:rPr>
              <a:t>REWIND</a:t>
            </a:r>
          </a:p>
        </p:txBody>
      </p:sp>
      <p:sp>
        <p:nvSpPr>
          <p:cNvPr id="12" name="">
            <a:extLst xmlns:a="http://schemas.openxmlformats.org/drawingml/2006/main">
              <a:ext uri="{FF2B5EF4-FFF2-40B4-BE49-F238E27FC236}">
                <a16:creationId xmlns:a16="http://schemas.microsoft.com/office/drawing/2014/main" id="{41EF2991-0A79-4C07-B44F-B46620FCD949}"/>
              </a:ext>
            </a:extLst>
          </p:cNvPr>
          <p:cNvSpPr>
            <a:spLocks xmlns:a="http://schemas.openxmlformats.org/drawingml/2006/main" noGrp="1"/>
          </p:cNvSpPr>
          <p:nvPr/>
        </p:nvSpPr>
        <p:spPr>
          <a:xfrm xmlns:a="http://schemas.openxmlformats.org/drawingml/2006/main">
            <a:off x="685800" y="38290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R키로 최신 모래시계까지 되감기</a:t>
            </a:r>
          </a:p>
        </p:txBody>
      </p:sp>
      <p:sp>
        <p:nvSpPr>
          <p:cNvPr id="13" name="">
            <a:extLst xmlns:a="http://schemas.openxmlformats.org/drawingml/2006/main">
              <a:ext uri="{FF2B5EF4-FFF2-40B4-BE49-F238E27FC236}">
                <a16:creationId xmlns:a16="http://schemas.microsoft.com/office/drawing/2014/main" id="{ACE0BFDD-BA76-4FD1-8F5A-30E4623B73BF}"/>
              </a:ext>
            </a:extLst>
          </p:cNvPr>
          <p:cNvSpPr>
            <a:spLocks xmlns:a="http://schemas.openxmlformats.org/drawingml/2006/main" noGrp="1"/>
          </p:cNvSpPr>
          <p:nvPr/>
        </p:nvSpPr>
        <p:spPr>
          <a:xfrm xmlns:a="http://schemas.openxmlformats.org/drawingml/2006/main">
            <a:off x="685800" y="4629150"/>
            <a:ext cx="3867150" cy="1200150"/>
          </a:xfrm>
          <a:prstGeom xmlns:a="http://schemas.openxmlformats.org/drawingml/2006/main" prst="roundRect">
            <a:avLst>
              <a:gd name="adj" fmla="val 9524"/>
            </a:avLst>
          </a:prstGeom>
          <a:solidFill xmlns:a="http://schemas.openxmlformats.org/drawingml/2006/main">
            <a:srgbClr val="14233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D13C83-69B7-4F11-A8EB-8C21E1A1A672}"/>
              </a:ext>
            </a:extLst>
          </p:cNvPr>
          <p:cNvSpPr>
            <a:spLocks xmlns:a="http://schemas.openxmlformats.org/drawingml/2006/main" noGrp="1"/>
          </p:cNvSpPr>
          <p:nvPr/>
        </p:nvSpPr>
        <p:spPr>
          <a:xfrm xmlns:a="http://schemas.openxmlformats.org/drawingml/2006/main">
            <a:off x="895350" y="48196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성공</a:t>
            </a:r>
          </a:p>
        </p:txBody>
      </p:sp>
      <p:sp>
        <p:nvSpPr>
          <p:cNvPr id="15" name="">
            <a:extLst xmlns:a="http://schemas.openxmlformats.org/drawingml/2006/main">
              <a:ext uri="{FF2B5EF4-FFF2-40B4-BE49-F238E27FC236}">
                <a16:creationId xmlns:a16="http://schemas.microsoft.com/office/drawing/2014/main" id="{DC222A96-4E61-4099-BE98-7D94686358C9}"/>
              </a:ext>
            </a:extLst>
          </p:cNvPr>
          <p:cNvSpPr>
            <a:spLocks xmlns:a="http://schemas.openxmlformats.org/drawingml/2006/main" noGrp="1"/>
          </p:cNvSpPr>
          <p:nvPr/>
        </p:nvSpPr>
        <p:spPr>
          <a:xfrm xmlns:a="http://schemas.openxmlformats.org/drawingml/2006/main">
            <a:off x="1581150" y="48196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열린 출구에 도착</a:t>
            </a:r>
          </a:p>
        </p:txBody>
      </p:sp>
      <p:sp>
        <p:nvSpPr>
          <p:cNvPr id="16" name="">
            <a:extLst xmlns:a="http://schemas.openxmlformats.org/drawingml/2006/main">
              <a:ext uri="{FF2B5EF4-FFF2-40B4-BE49-F238E27FC236}">
                <a16:creationId xmlns:a16="http://schemas.microsoft.com/office/drawing/2014/main" id="{C68D72D3-7948-48D3-86D6-EDE1B301ED99}"/>
              </a:ext>
            </a:extLst>
          </p:cNvPr>
          <p:cNvSpPr>
            <a:spLocks xmlns:a="http://schemas.openxmlformats.org/drawingml/2006/main" noGrp="1"/>
          </p:cNvSpPr>
          <p:nvPr/>
        </p:nvSpPr>
        <p:spPr>
          <a:xfrm xmlns:a="http://schemas.openxmlformats.org/drawingml/2006/main">
            <a:off x="895350" y="51625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E07A6F"/>
                </a:solidFill>
                <a:latin typeface="Noto Sans KR"/>
                <a:ea typeface="Noto Sans KR"/>
                <a:cs typeface="Noto Sans KR"/>
              </a:defRPr>
            </a:pPr>
            <a:r>
              <a:rPr sz="975" b="1">
                <a:solidFill>
                  <a:srgbClr val="E07A6F"/>
                </a:solidFill>
                <a:latin typeface="Noto Sans KR"/>
                <a:ea typeface="Noto Sans KR"/>
                <a:cs typeface="Noto Sans KR"/>
              </a:rPr>
              <a:t>실패</a:t>
            </a:r>
          </a:p>
        </p:txBody>
      </p:sp>
      <p:sp>
        <p:nvSpPr>
          <p:cNvPr id="17" name="">
            <a:extLst xmlns:a="http://schemas.openxmlformats.org/drawingml/2006/main">
              <a:ext uri="{FF2B5EF4-FFF2-40B4-BE49-F238E27FC236}">
                <a16:creationId xmlns:a16="http://schemas.microsoft.com/office/drawing/2014/main" id="{0AC5F5C2-1B49-40DD-ADE9-54B2D57E10E3}"/>
              </a:ext>
            </a:extLst>
          </p:cNvPr>
          <p:cNvSpPr>
            <a:spLocks xmlns:a="http://schemas.openxmlformats.org/drawingml/2006/main" noGrp="1"/>
          </p:cNvSpPr>
          <p:nvPr/>
        </p:nvSpPr>
        <p:spPr>
          <a:xfrm xmlns:a="http://schemas.openxmlformats.org/drawingml/2006/main">
            <a:off x="1581150" y="51625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시간 균열에 진입</a:t>
            </a:r>
          </a:p>
        </p:txBody>
      </p:sp>
      <p:sp>
        <p:nvSpPr>
          <p:cNvPr id="18" name="">
            <a:extLst xmlns:a="http://schemas.openxmlformats.org/drawingml/2006/main">
              <a:ext uri="{FF2B5EF4-FFF2-40B4-BE49-F238E27FC236}">
                <a16:creationId xmlns:a16="http://schemas.microsoft.com/office/drawing/2014/main" id="{C9EF8042-C194-4BFF-A867-CA89AA3DDABD}"/>
              </a:ext>
            </a:extLst>
          </p:cNvPr>
          <p:cNvSpPr>
            <a:spLocks xmlns:a="http://schemas.openxmlformats.org/drawingml/2006/main" noGrp="1"/>
          </p:cNvSpPr>
          <p:nvPr/>
        </p:nvSpPr>
        <p:spPr>
          <a:xfrm xmlns:a="http://schemas.openxmlformats.org/drawingml/2006/main">
            <a:off x="895350" y="55054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78DCE8"/>
                </a:solidFill>
                <a:latin typeface="Noto Sans KR"/>
                <a:ea typeface="Noto Sans KR"/>
                <a:cs typeface="Noto Sans KR"/>
              </a:defRPr>
            </a:pPr>
            <a:r>
              <a:rPr sz="975" b="1">
                <a:solidFill>
                  <a:srgbClr val="78DCE8"/>
                </a:solidFill>
                <a:latin typeface="Noto Sans KR"/>
                <a:ea typeface="Noto Sans KR"/>
                <a:cs typeface="Noto Sans KR"/>
              </a:rPr>
              <a:t>점수</a:t>
            </a:r>
          </a:p>
        </p:txBody>
      </p:sp>
      <p:sp>
        <p:nvSpPr>
          <p:cNvPr id="19" name="">
            <a:extLst xmlns:a="http://schemas.openxmlformats.org/drawingml/2006/main">
              <a:ext uri="{FF2B5EF4-FFF2-40B4-BE49-F238E27FC236}">
                <a16:creationId xmlns:a16="http://schemas.microsoft.com/office/drawing/2014/main" id="{4EB1DAB2-D5DE-490E-9010-9BE0A8C6E408}"/>
              </a:ext>
            </a:extLst>
          </p:cNvPr>
          <p:cNvSpPr>
            <a:spLocks xmlns:a="http://schemas.openxmlformats.org/drawingml/2006/main" noGrp="1"/>
          </p:cNvSpPr>
          <p:nvPr/>
        </p:nvSpPr>
        <p:spPr>
          <a:xfrm xmlns:a="http://schemas.openxmlformats.org/drawingml/2006/main">
            <a:off x="1581150" y="55054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수집 + / 이동·되감기 −</a:t>
            </a:r>
          </a:p>
        </p:txBody>
      </p:sp>
      <p:sp>
        <p:nvSpPr>
          <p:cNvPr id="20" name="">
            <a:extLst xmlns:a="http://schemas.openxmlformats.org/drawingml/2006/main">
              <a:ext uri="{FF2B5EF4-FFF2-40B4-BE49-F238E27FC236}">
                <a16:creationId xmlns:a16="http://schemas.microsoft.com/office/drawing/2014/main" id="{F0CC1E0B-6A8C-409D-810B-1BB589A9BB22}"/>
              </a:ext>
            </a:extLst>
          </p:cNvPr>
          <p:cNvSpPr>
            <a:spLocks xmlns:a="http://schemas.openxmlformats.org/drawingml/2006/main" noGrp="1"/>
          </p:cNvSpPr>
          <p:nvPr/>
        </p:nvSpPr>
        <p:spPr>
          <a:xfrm xmlns:a="http://schemas.openxmlformats.org/drawingml/2006/main">
            <a:off x="7543800" y="6115050"/>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10 STAGES</a:t>
            </a:r>
          </a:p>
        </p:txBody>
      </p:sp>
      <p:sp>
        <p:nvSpPr>
          <p:cNvPr id="21" name="">
            <a:extLst xmlns:a="http://schemas.openxmlformats.org/drawingml/2006/main">
              <a:ext uri="{FF2B5EF4-FFF2-40B4-BE49-F238E27FC236}">
                <a16:creationId xmlns:a16="http://schemas.microsoft.com/office/drawing/2014/main" id="{1BE7CC73-22FC-4E6B-9996-4A6292F1F30A}"/>
              </a:ext>
            </a:extLst>
          </p:cNvPr>
          <p:cNvSpPr>
            <a:spLocks xmlns:a="http://schemas.openxmlformats.org/drawingml/2006/main" noGrp="1"/>
          </p:cNvSpPr>
          <p:nvPr/>
        </p:nvSpPr>
        <p:spPr>
          <a:xfrm xmlns:a="http://schemas.openxmlformats.org/drawingml/2006/main">
            <a:off x="8972550" y="6115050"/>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78DCE8"/>
                </a:solidFill>
                <a:latin typeface="Noto Sans KR"/>
                <a:ea typeface="Noto Sans KR"/>
                <a:cs typeface="Noto Sans KR"/>
              </a:defRPr>
            </a:pPr>
            <a:r>
              <a:rPr sz="825" b="1">
                <a:solidFill>
                  <a:srgbClr val="78DCE8"/>
                </a:solidFill>
                <a:latin typeface="Noto Sans KR"/>
                <a:ea typeface="Noto Sans KR"/>
                <a:cs typeface="Noto Sans KR"/>
              </a:rPr>
              <a:t>PC + MOBILE</a:t>
            </a:r>
          </a:p>
        </p:txBody>
      </p:sp>
      <p:sp>
        <p:nvSpPr>
          <p:cNvPr id="22" name="">
            <a:extLst xmlns:a="http://schemas.openxmlformats.org/drawingml/2006/main">
              <a:ext uri="{FF2B5EF4-FFF2-40B4-BE49-F238E27FC236}">
                <a16:creationId xmlns:a16="http://schemas.microsoft.com/office/drawing/2014/main" id="{73941679-FEB3-4DA8-A790-5CC9AC40FEF4}"/>
              </a:ext>
            </a:extLst>
          </p:cNvPr>
          <p:cNvSpPr>
            <a:spLocks xmlns:a="http://schemas.openxmlformats.org/drawingml/2006/main" noGrp="1"/>
          </p:cNvSpPr>
          <p:nvPr/>
        </p:nvSpPr>
        <p:spPr>
          <a:xfrm xmlns:a="http://schemas.openxmlformats.org/drawingml/2006/main">
            <a:off x="10477500" y="6115050"/>
            <a:ext cx="990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r">
              <a:defRPr sz="825" b="1">
                <a:solidFill>
                  <a:srgbClr val="A9B7C7"/>
                </a:solidFill>
                <a:latin typeface="Noto Sans KR"/>
                <a:ea typeface="Noto Sans KR"/>
                <a:cs typeface="Noto Sans KR"/>
              </a:defRPr>
            </a:pPr>
            <a:r>
              <a:rPr sz="825" b="1">
                <a:solidFill>
                  <a:srgbClr val="A9B7C7"/>
                </a:solidFill>
                <a:latin typeface="Noto Sans KR"/>
                <a:ea typeface="Noto Sans KR"/>
                <a:cs typeface="Noto Sans KR"/>
              </a:rPr>
              <a:t>LOCAL SAVE</a:t>
            </a:r>
          </a:p>
        </p:txBody>
      </p:sp>
      <p:sp>
        <p:nvSpPr>
          <p:cNvPr id="23" name="">
            <a:extLst xmlns:a="http://schemas.openxmlformats.org/drawingml/2006/main">
              <a:ext uri="{FF2B5EF4-FFF2-40B4-BE49-F238E27FC236}">
                <a16:creationId xmlns:a16="http://schemas.microsoft.com/office/drawing/2014/main" id="{179CDB96-D710-41E9-BDFF-922234FAB082}"/>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03</a:t>
            </a:r>
          </a:p>
        </p:txBody>
      </p:sp>
    </p:spTree>
    <p:extLst>
      <p:ext uri="{BB962C8B-B14F-4D97-AF65-F5344CB8AC3E}">
        <p14:creationId xmlns:p14="http://schemas.microsoft.com/office/powerpoint/2010/main" val="1745539520"/>
      </p:ext>
    </p:extLst>
  </p:cSld>
</p:sld>
</file>

<file path=ppt/slides/slide4.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87D883-562B-4445-B015-29B52720E152}"/>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대표 기능</a:t>
            </a:r>
          </a:p>
        </p:txBody>
      </p:sp>
      <p:sp>
        <p:nvSpPr>
          <p:cNvPr id="2" name="">
            <a:extLst xmlns:a="http://schemas.openxmlformats.org/drawingml/2006/main">
              <a:ext uri="{FF2B5EF4-FFF2-40B4-BE49-F238E27FC236}">
                <a16:creationId xmlns:a16="http://schemas.microsoft.com/office/drawing/2014/main" id="{E419A936-ECD0-4B83-B186-7BB7C66FBF2C}"/>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실제로 왔던 순서 그대로 되돌아갑니다</a:t>
            </a:r>
          </a:p>
        </p:txBody>
      </p:sp>
      <p:sp>
        <p:nvSpPr>
          <p:cNvPr id="3" name="">
            <a:extLst xmlns:a="http://schemas.openxmlformats.org/drawingml/2006/main">
              <a:ext uri="{FF2B5EF4-FFF2-40B4-BE49-F238E27FC236}">
                <a16:creationId xmlns:a16="http://schemas.microsoft.com/office/drawing/2014/main" id="{9476ED11-BB74-41AD-9EBA-E8319488A270}"/>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3e0315525e94ef3"/>
          <a:srcRect xmlns:a="http://schemas.openxmlformats.org/drawingml/2006/main" l="0" t="3049" r="0" b="3049"/>
          <a:stretch xmlns:a="http://schemas.openxmlformats.org/drawingml/2006/main">
            <a:fillRect l="0" t="0" r="0" b="0"/>
          </a:stretch>
        </p:blipFill>
        <p:spPr>
          <a:xfrm xmlns:a="http://schemas.openxmlformats.org/drawingml/2006/main">
            <a:off x="5410200" y="1466850"/>
            <a:ext cx="617220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84502CD-C413-4F6C-BE90-912AA80D857B}"/>
              </a:ext>
            </a:extLst>
          </p:cNvPr>
          <p:cNvSpPr>
            <a:spLocks xmlns:a="http://schemas.openxmlformats.org/drawingml/2006/main" noGrp="1"/>
          </p:cNvSpPr>
          <p:nvPr/>
        </p:nvSpPr>
        <p:spPr>
          <a:xfrm xmlns:a="http://schemas.openxmlformats.org/drawingml/2006/main">
            <a:off x="685800" y="1657350"/>
            <a:ext cx="361950" cy="361950"/>
          </a:xfrm>
          <a:prstGeom xmlns:a="http://schemas.openxmlformats.org/drawingml/2006/main" prst="roundRect">
            <a:avLst>
              <a:gd name="adj" fmla="val 50000"/>
            </a:avLst>
          </a:prstGeom>
          <a:solidFill xmlns:a="http://schemas.openxmlformats.org/drawingml/2006/main">
            <a:srgbClr val="D8B35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A2C1FD-7F6B-4644-A0E3-C8D7FAC8995E}"/>
              </a:ext>
            </a:extLst>
          </p:cNvPr>
          <p:cNvSpPr>
            <a:spLocks xmlns:a="http://schemas.openxmlformats.org/drawingml/2006/main" noGrp="1"/>
          </p:cNvSpPr>
          <p:nvPr/>
        </p:nvSpPr>
        <p:spPr>
          <a:xfrm xmlns:a="http://schemas.openxmlformats.org/drawingml/2006/main">
            <a:off x="685800" y="17049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C811A694-F4BD-4C04-B0E0-15C56C43A915}"/>
              </a:ext>
            </a:extLst>
          </p:cNvPr>
          <p:cNvSpPr>
            <a:spLocks xmlns:a="http://schemas.openxmlformats.org/drawingml/2006/main" noGrp="1"/>
          </p:cNvSpPr>
          <p:nvPr/>
        </p:nvSpPr>
        <p:spPr>
          <a:xfrm xmlns:a="http://schemas.openxmlformats.org/drawingml/2006/main">
            <a:off x="1238250" y="1638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모래시계 획득</a:t>
            </a:r>
          </a:p>
        </p:txBody>
      </p:sp>
      <p:sp>
        <p:nvSpPr>
          <p:cNvPr id="8" name="">
            <a:extLst xmlns:a="http://schemas.openxmlformats.org/drawingml/2006/main">
              <a:ext uri="{FF2B5EF4-FFF2-40B4-BE49-F238E27FC236}">
                <a16:creationId xmlns:a16="http://schemas.microsoft.com/office/drawing/2014/main" id="{9F7BEE51-868D-4AA6-9600-B17EFEF90E1C}"/>
              </a:ext>
            </a:extLst>
          </p:cNvPr>
          <p:cNvSpPr>
            <a:spLocks xmlns:a="http://schemas.openxmlformats.org/drawingml/2006/main" noGrp="1"/>
          </p:cNvSpPr>
          <p:nvPr/>
        </p:nvSpPr>
        <p:spPr>
          <a:xfrm xmlns:a="http://schemas.openxmlformats.org/drawingml/2006/main">
            <a:off x="1238250" y="19812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현재 칸을 기준점으로 저장</a:t>
            </a:r>
          </a:p>
        </p:txBody>
      </p:sp>
      <p:sp>
        <p:nvSpPr>
          <p:cNvPr id="9" name="">
            <a:extLst xmlns:a="http://schemas.openxmlformats.org/drawingml/2006/main">
              <a:ext uri="{FF2B5EF4-FFF2-40B4-BE49-F238E27FC236}">
                <a16:creationId xmlns:a16="http://schemas.microsoft.com/office/drawing/2014/main" id="{A975EB0B-61E7-4CAE-B1EE-25CAD2CD6D66}"/>
              </a:ext>
            </a:extLst>
          </p:cNvPr>
          <p:cNvSpPr>
            <a:spLocks xmlns:a="http://schemas.openxmlformats.org/drawingml/2006/main" noGrp="1"/>
          </p:cNvSpPr>
          <p:nvPr/>
        </p:nvSpPr>
        <p:spPr>
          <a:xfrm xmlns:a="http://schemas.openxmlformats.org/drawingml/2006/main">
            <a:off x="685800" y="2724150"/>
            <a:ext cx="361950" cy="361950"/>
          </a:xfrm>
          <a:prstGeom xmlns:a="http://schemas.openxmlformats.org/drawingml/2006/main" prst="roundRect">
            <a:avLst>
              <a:gd name="adj" fmla="val 50000"/>
            </a:avLst>
          </a:prstGeom>
          <a:solidFill xmlns:a="http://schemas.openxmlformats.org/drawingml/2006/main">
            <a:srgbClr val="D8B35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52049BD-8E8B-42B7-82B2-F13ECEE5E479}"/>
              </a:ext>
            </a:extLst>
          </p:cNvPr>
          <p:cNvSpPr>
            <a:spLocks xmlns:a="http://schemas.openxmlformats.org/drawingml/2006/main" noGrp="1"/>
          </p:cNvSpPr>
          <p:nvPr/>
        </p:nvSpPr>
        <p:spPr>
          <a:xfrm xmlns:a="http://schemas.openxmlformats.org/drawingml/2006/main">
            <a:off x="685800" y="27717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2</a:t>
            </a:r>
          </a:p>
        </p:txBody>
      </p:sp>
      <p:sp>
        <p:nvSpPr>
          <p:cNvPr id="11" name="">
            <a:extLst xmlns:a="http://schemas.openxmlformats.org/drawingml/2006/main">
              <a:ext uri="{FF2B5EF4-FFF2-40B4-BE49-F238E27FC236}">
                <a16:creationId xmlns:a16="http://schemas.microsoft.com/office/drawing/2014/main" id="{BCA3BDC0-8EBD-478E-80C4-6E56031DBF1D}"/>
              </a:ext>
            </a:extLst>
          </p:cNvPr>
          <p:cNvSpPr>
            <a:spLocks xmlns:a="http://schemas.openxmlformats.org/drawingml/2006/main" noGrp="1"/>
          </p:cNvSpPr>
          <p:nvPr/>
        </p:nvSpPr>
        <p:spPr>
          <a:xfrm xmlns:a="http://schemas.openxmlformats.org/drawingml/2006/main">
            <a:off x="1238250" y="27051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경로 기록</a:t>
            </a:r>
          </a:p>
        </p:txBody>
      </p:sp>
      <p:sp>
        <p:nvSpPr>
          <p:cNvPr id="12" name="">
            <a:extLst xmlns:a="http://schemas.openxmlformats.org/drawingml/2006/main">
              <a:ext uri="{FF2B5EF4-FFF2-40B4-BE49-F238E27FC236}">
                <a16:creationId xmlns:a16="http://schemas.microsoft.com/office/drawing/2014/main" id="{8A91110E-1747-41FE-8C56-E2C80A61338D}"/>
              </a:ext>
            </a:extLst>
          </p:cNvPr>
          <p:cNvSpPr>
            <a:spLocks xmlns:a="http://schemas.openxmlformats.org/drawingml/2006/main" noGrp="1"/>
          </p:cNvSpPr>
          <p:nvPr/>
        </p:nvSpPr>
        <p:spPr>
          <a:xfrm xmlns:a="http://schemas.openxmlformats.org/drawingml/2006/main">
            <a:off x="1238250" y="30480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우회·모서리·반복 방문도 보존</a:t>
            </a:r>
          </a:p>
        </p:txBody>
      </p:sp>
      <p:sp>
        <p:nvSpPr>
          <p:cNvPr id="13" name="">
            <a:extLst xmlns:a="http://schemas.openxmlformats.org/drawingml/2006/main">
              <a:ext uri="{FF2B5EF4-FFF2-40B4-BE49-F238E27FC236}">
                <a16:creationId xmlns:a16="http://schemas.microsoft.com/office/drawing/2014/main" id="{F56CC6DD-0427-40F0-A198-859F465AD56E}"/>
              </a:ext>
            </a:extLst>
          </p:cNvPr>
          <p:cNvSpPr>
            <a:spLocks xmlns:a="http://schemas.openxmlformats.org/drawingml/2006/main" noGrp="1"/>
          </p:cNvSpPr>
          <p:nvPr/>
        </p:nvSpPr>
        <p:spPr>
          <a:xfrm xmlns:a="http://schemas.openxmlformats.org/drawingml/2006/main">
            <a:off x="685800" y="3790950"/>
            <a:ext cx="361950" cy="361950"/>
          </a:xfrm>
          <a:prstGeom xmlns:a="http://schemas.openxmlformats.org/drawingml/2006/main" prst="roundRect">
            <a:avLst>
              <a:gd name="adj" fmla="val 50000"/>
            </a:avLst>
          </a:prstGeom>
          <a:solidFill xmlns:a="http://schemas.openxmlformats.org/drawingml/2006/main">
            <a:srgbClr val="78DC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DAFD277-1453-48DB-953A-2E4AB9B06C2E}"/>
              </a:ext>
            </a:extLst>
          </p:cNvPr>
          <p:cNvSpPr>
            <a:spLocks xmlns:a="http://schemas.openxmlformats.org/drawingml/2006/main" noGrp="1"/>
          </p:cNvSpPr>
          <p:nvPr/>
        </p:nvSpPr>
        <p:spPr>
          <a:xfrm xmlns:a="http://schemas.openxmlformats.org/drawingml/2006/main">
            <a:off x="685800" y="38385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3</a:t>
            </a:r>
          </a:p>
        </p:txBody>
      </p:sp>
      <p:sp>
        <p:nvSpPr>
          <p:cNvPr id="15" name="">
            <a:extLst xmlns:a="http://schemas.openxmlformats.org/drawingml/2006/main">
              <a:ext uri="{FF2B5EF4-FFF2-40B4-BE49-F238E27FC236}">
                <a16:creationId xmlns:a16="http://schemas.microsoft.com/office/drawing/2014/main" id="{03C1484C-D100-4C02-8FF9-4FA6B70C73E5}"/>
              </a:ext>
            </a:extLst>
          </p:cNvPr>
          <p:cNvSpPr>
            <a:spLocks xmlns:a="http://schemas.openxmlformats.org/drawingml/2006/main" noGrp="1"/>
          </p:cNvSpPr>
          <p:nvPr/>
        </p:nvSpPr>
        <p:spPr>
          <a:xfrm xmlns:a="http://schemas.openxmlformats.org/drawingml/2006/main">
            <a:off x="1238250" y="37719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역순 재생</a:t>
            </a:r>
          </a:p>
        </p:txBody>
      </p:sp>
      <p:sp>
        <p:nvSpPr>
          <p:cNvPr id="16" name="">
            <a:extLst xmlns:a="http://schemas.openxmlformats.org/drawingml/2006/main">
              <a:ext uri="{FF2B5EF4-FFF2-40B4-BE49-F238E27FC236}">
                <a16:creationId xmlns:a16="http://schemas.microsoft.com/office/drawing/2014/main" id="{507192E5-35F0-421A-A1B3-DA62E9DAB32C}"/>
              </a:ext>
            </a:extLst>
          </p:cNvPr>
          <p:cNvSpPr>
            <a:spLocks xmlns:a="http://schemas.openxmlformats.org/drawingml/2006/main" noGrp="1"/>
          </p:cNvSpPr>
          <p:nvPr/>
        </p:nvSpPr>
        <p:spPr>
          <a:xfrm xmlns:a="http://schemas.openxmlformats.org/drawingml/2006/main">
            <a:off x="1238250" y="41148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직전 발자국부터 기준점까지 이동</a:t>
            </a:r>
          </a:p>
        </p:txBody>
      </p:sp>
      <p:sp>
        <p:nvSpPr>
          <p:cNvPr id="17" name="">
            <a:extLst xmlns:a="http://schemas.openxmlformats.org/drawingml/2006/main">
              <a:ext uri="{FF2B5EF4-FFF2-40B4-BE49-F238E27FC236}">
                <a16:creationId xmlns:a16="http://schemas.microsoft.com/office/drawing/2014/main" id="{57D651DF-0A1F-48A7-B278-C6121F19B709}"/>
              </a:ext>
            </a:extLst>
          </p:cNvPr>
          <p:cNvSpPr>
            <a:spLocks xmlns:a="http://schemas.openxmlformats.org/drawingml/2006/main" noGrp="1"/>
          </p:cNvSpPr>
          <p:nvPr/>
        </p:nvSpPr>
        <p:spPr>
          <a:xfrm xmlns:a="http://schemas.openxmlformats.org/drawingml/2006/main">
            <a:off x="685800" y="4972050"/>
            <a:ext cx="4095750" cy="914400"/>
          </a:xfrm>
          <a:prstGeom xmlns:a="http://schemas.openxmlformats.org/drawingml/2006/main" prst="roundRect">
            <a:avLst>
              <a:gd name="adj" fmla="val 12500"/>
            </a:avLst>
          </a:prstGeom>
          <a:solidFill xmlns:a="http://schemas.openxmlformats.org/drawingml/2006/main">
            <a:srgbClr val="14233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83A51EC-7D64-4791-A565-915621153CC8}"/>
              </a:ext>
            </a:extLst>
          </p:cNvPr>
          <p:cNvSpPr>
            <a:spLocks xmlns:a="http://schemas.openxmlformats.org/drawingml/2006/main" noGrp="1"/>
          </p:cNvSpPr>
          <p:nvPr/>
        </p:nvSpPr>
        <p:spPr>
          <a:xfrm xmlns:a="http://schemas.openxmlformats.org/drawingml/2006/main">
            <a:off x="895350" y="51816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78DCE8"/>
                </a:solidFill>
                <a:latin typeface="Noto Sans KR"/>
                <a:ea typeface="Noto Sans KR"/>
                <a:cs typeface="Noto Sans KR"/>
              </a:defRPr>
            </a:pPr>
            <a:r>
              <a:rPr sz="1275" b="1">
                <a:solidFill>
                  <a:srgbClr val="78DCE8"/>
                </a:solidFill>
                <a:latin typeface="Noto Sans KR"/>
                <a:ea typeface="Noto Sans KR"/>
                <a:cs typeface="Noto Sans KR"/>
              </a:rPr>
              <a:t>되감아도 세계 상태는 유지</a:t>
            </a:r>
          </a:p>
        </p:txBody>
      </p:sp>
      <p:sp>
        <p:nvSpPr>
          <p:cNvPr id="19" name="">
            <a:extLst xmlns:a="http://schemas.openxmlformats.org/drawingml/2006/main">
              <a:ext uri="{FF2B5EF4-FFF2-40B4-BE49-F238E27FC236}">
                <a16:creationId xmlns:a16="http://schemas.microsoft.com/office/drawing/2014/main" id="{5CAD33B3-5F54-42B5-ABDC-ACB013E28EAA}"/>
              </a:ext>
            </a:extLst>
          </p:cNvPr>
          <p:cNvSpPr>
            <a:spLocks xmlns:a="http://schemas.openxmlformats.org/drawingml/2006/main" noGrp="1"/>
          </p:cNvSpPr>
          <p:nvPr/>
        </p:nvSpPr>
        <p:spPr>
          <a:xfrm xmlns:a="http://schemas.openxmlformats.org/drawingml/2006/main">
            <a:off x="895350" y="55245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F5F1E8"/>
                </a:solidFill>
                <a:latin typeface="Noto Sans KR"/>
                <a:ea typeface="Noto Sans KR"/>
                <a:cs typeface="Noto Sans KR"/>
              </a:defRPr>
            </a:pPr>
            <a:r>
              <a:rPr sz="975" b="0">
                <a:solidFill>
                  <a:srgbClr val="F5F1E8"/>
                </a:solidFill>
                <a:latin typeface="Noto Sans KR"/>
                <a:ea typeface="Noto Sans KR"/>
                <a:cs typeface="Noto Sans KR"/>
              </a:rPr>
              <a:t>수집품 · 열린 문 · 무너진 발판은 복원되지 않습니다.</a:t>
            </a:r>
          </a:p>
        </p:txBody>
      </p:sp>
      <p:sp>
        <p:nvSpPr>
          <p:cNvPr id="20" name="">
            <a:extLst xmlns:a="http://schemas.openxmlformats.org/drawingml/2006/main">
              <a:ext uri="{FF2B5EF4-FFF2-40B4-BE49-F238E27FC236}">
                <a16:creationId xmlns:a16="http://schemas.microsoft.com/office/drawing/2014/main" id="{2FBA29E6-8463-4A06-B4EE-D216A73D631B}"/>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04</a:t>
            </a:r>
          </a:p>
        </p:txBody>
      </p:sp>
    </p:spTree>
    <p:extLst>
      <p:ext uri="{BB962C8B-B14F-4D97-AF65-F5344CB8AC3E}">
        <p14:creationId xmlns:p14="http://schemas.microsoft.com/office/powerpoint/2010/main" val="794554528"/>
      </p:ext>
    </p:extLst>
  </p:cSld>
</p:sld>
</file>

<file path=ppt/slides/slide5.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FA5ABCB-AF11-47E5-BD02-3EC93BD36A7D}"/>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제작 과정과 AI 협업</a:t>
            </a:r>
          </a:p>
        </p:txBody>
      </p:sp>
      <p:sp>
        <p:nvSpPr>
          <p:cNvPr id="2" name="">
            <a:extLst xmlns:a="http://schemas.openxmlformats.org/drawingml/2006/main">
              <a:ext uri="{FF2B5EF4-FFF2-40B4-BE49-F238E27FC236}">
                <a16:creationId xmlns:a16="http://schemas.microsoft.com/office/drawing/2014/main" id="{E3F8C945-8080-49C1-A453-2CC8CB095A92}"/>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기획 문서부터 오류 수정과 실배포까지</a:t>
            </a:r>
          </a:p>
        </p:txBody>
      </p:sp>
      <p:sp>
        <p:nvSpPr>
          <p:cNvPr id="3" name="">
            <a:extLst xmlns:a="http://schemas.openxmlformats.org/drawingml/2006/main">
              <a:ext uri="{FF2B5EF4-FFF2-40B4-BE49-F238E27FC236}">
                <a16:creationId xmlns:a16="http://schemas.microsoft.com/office/drawing/2014/main" id="{94CB4C8A-72AE-4167-B89F-C24116EB7530}"/>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62E76F-7CB2-4D5C-9CB3-E6A919B08BB7}"/>
              </a:ext>
            </a:extLst>
          </p:cNvPr>
          <p:cNvSpPr>
            <a:spLocks xmlns:a="http://schemas.openxmlformats.org/drawingml/2006/main" noGrp="1"/>
          </p:cNvSpPr>
          <p:nvPr/>
        </p:nvSpPr>
        <p:spPr>
          <a:xfrm xmlns:a="http://schemas.openxmlformats.org/drawingml/2006/main">
            <a:off x="666750" y="1657350"/>
            <a:ext cx="18097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5" name="">
            <a:extLst xmlns:a="http://schemas.openxmlformats.org/drawingml/2006/main">
              <a:ext uri="{FF2B5EF4-FFF2-40B4-BE49-F238E27FC236}">
                <a16:creationId xmlns:a16="http://schemas.microsoft.com/office/drawing/2014/main" id="{E190E5A6-CEB9-440F-9B0E-E63DA7D66A7E}"/>
              </a:ext>
            </a:extLst>
          </p:cNvPr>
          <p:cNvSpPr>
            <a:spLocks xmlns:a="http://schemas.openxmlformats.org/drawingml/2006/main" noGrp="1"/>
          </p:cNvSpPr>
          <p:nvPr/>
        </p:nvSpPr>
        <p:spPr>
          <a:xfrm xmlns:a="http://schemas.openxmlformats.org/drawingml/2006/main">
            <a:off x="800100" y="1828800"/>
            <a:ext cx="1562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F5F1E8"/>
                </a:solidFill>
                <a:latin typeface="Noto Sans KR"/>
                <a:ea typeface="Noto Sans KR"/>
                <a:cs typeface="Noto Sans KR"/>
              </a:defRPr>
            </a:pPr>
            <a:r>
              <a:rPr sz="1200" b="1">
                <a:solidFill>
                  <a:srgbClr val="F5F1E8"/>
                </a:solidFill>
                <a:latin typeface="Noto Sans KR"/>
                <a:ea typeface="Noto Sans KR"/>
                <a:cs typeface="Noto Sans KR"/>
              </a:rPr>
              <a:t>1  기획·설계</a:t>
            </a:r>
          </a:p>
        </p:txBody>
      </p:sp>
      <p:sp>
        <p:nvSpPr>
          <p:cNvPr id="6" name="">
            <a:extLst xmlns:a="http://schemas.openxmlformats.org/drawingml/2006/main">
              <a:ext uri="{FF2B5EF4-FFF2-40B4-BE49-F238E27FC236}">
                <a16:creationId xmlns:a16="http://schemas.microsoft.com/office/drawing/2014/main" id="{D7DD606E-59C5-48B0-8FA7-8E165EC19A17}"/>
              </a:ext>
            </a:extLst>
          </p:cNvPr>
          <p:cNvSpPr>
            <a:spLocks xmlns:a="http://schemas.openxmlformats.org/drawingml/2006/main" noGrp="1"/>
          </p:cNvSpPr>
          <p:nvPr/>
        </p:nvSpPr>
        <p:spPr>
          <a:xfrm xmlns:a="http://schemas.openxmlformats.org/drawingml/2006/main">
            <a:off x="800100" y="2190750"/>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ChatGPT · MD</a:t>
            </a:r>
          </a:p>
        </p:txBody>
      </p:sp>
      <p:sp>
        <p:nvSpPr>
          <p:cNvPr id="7" name="">
            <a:extLst xmlns:a="http://schemas.openxmlformats.org/drawingml/2006/main">
              <a:ext uri="{FF2B5EF4-FFF2-40B4-BE49-F238E27FC236}">
                <a16:creationId xmlns:a16="http://schemas.microsoft.com/office/drawing/2014/main" id="{214C6D07-89CA-401A-B128-E8E9D06BDB0B}"/>
              </a:ext>
            </a:extLst>
          </p:cNvPr>
          <p:cNvSpPr>
            <a:spLocks xmlns:a="http://schemas.openxmlformats.org/drawingml/2006/main" noGrp="1"/>
          </p:cNvSpPr>
          <p:nvPr/>
        </p:nvSpPr>
        <p:spPr>
          <a:xfrm xmlns:a="http://schemas.openxmlformats.org/drawingml/2006/main">
            <a:off x="2476500" y="2114550"/>
            <a:ext cx="4381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878A4A3-15DD-47C4-AE98-C505E79B2974}"/>
              </a:ext>
            </a:extLst>
          </p:cNvPr>
          <p:cNvSpPr>
            <a:spLocks xmlns:a="http://schemas.openxmlformats.org/drawingml/2006/main" noGrp="1"/>
          </p:cNvSpPr>
          <p:nvPr/>
        </p:nvSpPr>
        <p:spPr>
          <a:xfrm xmlns:a="http://schemas.openxmlformats.org/drawingml/2006/main">
            <a:off x="2914650" y="1657350"/>
            <a:ext cx="18097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9" name="">
            <a:extLst xmlns:a="http://schemas.openxmlformats.org/drawingml/2006/main">
              <a:ext uri="{FF2B5EF4-FFF2-40B4-BE49-F238E27FC236}">
                <a16:creationId xmlns:a16="http://schemas.microsoft.com/office/drawing/2014/main" id="{75E3B5E5-6B66-4B7F-B412-3BBA35925BB2}"/>
              </a:ext>
            </a:extLst>
          </p:cNvPr>
          <p:cNvSpPr>
            <a:spLocks xmlns:a="http://schemas.openxmlformats.org/drawingml/2006/main" noGrp="1"/>
          </p:cNvSpPr>
          <p:nvPr/>
        </p:nvSpPr>
        <p:spPr>
          <a:xfrm xmlns:a="http://schemas.openxmlformats.org/drawingml/2006/main">
            <a:off x="3048000" y="1828800"/>
            <a:ext cx="1562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F5F1E8"/>
                </a:solidFill>
                <a:latin typeface="Noto Sans KR"/>
                <a:ea typeface="Noto Sans KR"/>
                <a:cs typeface="Noto Sans KR"/>
              </a:defRPr>
            </a:pPr>
            <a:r>
              <a:rPr sz="1200" b="1">
                <a:solidFill>
                  <a:srgbClr val="F5F1E8"/>
                </a:solidFill>
                <a:latin typeface="Noto Sans KR"/>
                <a:ea typeface="Noto Sans KR"/>
                <a:cs typeface="Noto Sans KR"/>
              </a:rPr>
              <a:t>2  리소스</a:t>
            </a:r>
          </a:p>
        </p:txBody>
      </p:sp>
      <p:sp>
        <p:nvSpPr>
          <p:cNvPr id="10" name="">
            <a:extLst xmlns:a="http://schemas.openxmlformats.org/drawingml/2006/main">
              <a:ext uri="{FF2B5EF4-FFF2-40B4-BE49-F238E27FC236}">
                <a16:creationId xmlns:a16="http://schemas.microsoft.com/office/drawing/2014/main" id="{9FD01134-C35C-4955-A42B-F30B9E46187D}"/>
              </a:ext>
            </a:extLst>
          </p:cNvPr>
          <p:cNvSpPr>
            <a:spLocks xmlns:a="http://schemas.openxmlformats.org/drawingml/2006/main" noGrp="1"/>
          </p:cNvSpPr>
          <p:nvPr/>
        </p:nvSpPr>
        <p:spPr>
          <a:xfrm xmlns:a="http://schemas.openxmlformats.org/drawingml/2006/main">
            <a:off x="3048000" y="2190750"/>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이미지 · 사운드</a:t>
            </a:r>
          </a:p>
        </p:txBody>
      </p:sp>
      <p:sp>
        <p:nvSpPr>
          <p:cNvPr id="11" name="">
            <a:extLst xmlns:a="http://schemas.openxmlformats.org/drawingml/2006/main">
              <a:ext uri="{FF2B5EF4-FFF2-40B4-BE49-F238E27FC236}">
                <a16:creationId xmlns:a16="http://schemas.microsoft.com/office/drawing/2014/main" id="{C69B41D5-958B-4A25-8BE9-0CC3D79B7340}"/>
              </a:ext>
            </a:extLst>
          </p:cNvPr>
          <p:cNvSpPr>
            <a:spLocks xmlns:a="http://schemas.openxmlformats.org/drawingml/2006/main" noGrp="1"/>
          </p:cNvSpPr>
          <p:nvPr/>
        </p:nvSpPr>
        <p:spPr>
          <a:xfrm xmlns:a="http://schemas.openxmlformats.org/drawingml/2006/main">
            <a:off x="4724400" y="2114550"/>
            <a:ext cx="4381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0EBFBAB-E1D3-4311-B51A-634183C6E010}"/>
              </a:ext>
            </a:extLst>
          </p:cNvPr>
          <p:cNvSpPr>
            <a:spLocks xmlns:a="http://schemas.openxmlformats.org/drawingml/2006/main" noGrp="1"/>
          </p:cNvSpPr>
          <p:nvPr/>
        </p:nvSpPr>
        <p:spPr>
          <a:xfrm xmlns:a="http://schemas.openxmlformats.org/drawingml/2006/main">
            <a:off x="5162550" y="1657350"/>
            <a:ext cx="1809750" cy="933450"/>
          </a:xfrm>
          <a:prstGeom xmlns:a="http://schemas.openxmlformats.org/drawingml/2006/main" prst="roundRect">
            <a:avLst>
              <a:gd name="adj" fmla="val 12245"/>
            </a:avLst>
          </a:prstGeom>
          <a:solidFill xmlns:a="http://schemas.openxmlformats.org/drawingml/2006/main">
            <a:srgbClr val="142337"/>
          </a:solidFill>
          <a:ln xmlns:a="http://schemas.openxmlformats.org/drawingml/2006/main" w="19050">
            <a:solidFill>
              <a:srgbClr val="D8B35E"/>
            </a:solidFill>
          </a:ln>
        </p:spPr>
      </p:sp>
      <p:sp>
        <p:nvSpPr>
          <p:cNvPr id="13" name="">
            <a:extLst xmlns:a="http://schemas.openxmlformats.org/drawingml/2006/main">
              <a:ext uri="{FF2B5EF4-FFF2-40B4-BE49-F238E27FC236}">
                <a16:creationId xmlns:a16="http://schemas.microsoft.com/office/drawing/2014/main" id="{46D6673E-1FA4-4B11-B4B1-918701CB62FB}"/>
              </a:ext>
            </a:extLst>
          </p:cNvPr>
          <p:cNvSpPr>
            <a:spLocks xmlns:a="http://schemas.openxmlformats.org/drawingml/2006/main" noGrp="1"/>
          </p:cNvSpPr>
          <p:nvPr/>
        </p:nvSpPr>
        <p:spPr>
          <a:xfrm xmlns:a="http://schemas.openxmlformats.org/drawingml/2006/main">
            <a:off x="5295900" y="1828800"/>
            <a:ext cx="1562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F5F1E8"/>
                </a:solidFill>
                <a:latin typeface="Noto Sans KR"/>
                <a:ea typeface="Noto Sans KR"/>
                <a:cs typeface="Noto Sans KR"/>
              </a:defRPr>
            </a:pPr>
            <a:r>
              <a:rPr sz="1200" b="1">
                <a:solidFill>
                  <a:srgbClr val="F5F1E8"/>
                </a:solidFill>
                <a:latin typeface="Noto Sans KR"/>
                <a:ea typeface="Noto Sans KR"/>
                <a:cs typeface="Noto Sans KR"/>
              </a:rPr>
              <a:t>3  게임 구현</a:t>
            </a:r>
          </a:p>
        </p:txBody>
      </p:sp>
      <p:sp>
        <p:nvSpPr>
          <p:cNvPr id="14" name="">
            <a:extLst xmlns:a="http://schemas.openxmlformats.org/drawingml/2006/main">
              <a:ext uri="{FF2B5EF4-FFF2-40B4-BE49-F238E27FC236}">
                <a16:creationId xmlns:a16="http://schemas.microsoft.com/office/drawing/2014/main" id="{72A6CB9C-7A0C-4A31-8524-7389E22B1698}"/>
              </a:ext>
            </a:extLst>
          </p:cNvPr>
          <p:cNvSpPr>
            <a:spLocks xmlns:a="http://schemas.openxmlformats.org/drawingml/2006/main" noGrp="1"/>
          </p:cNvSpPr>
          <p:nvPr/>
        </p:nvSpPr>
        <p:spPr>
          <a:xfrm xmlns:a="http://schemas.openxmlformats.org/drawingml/2006/main">
            <a:off x="5295900" y="2190750"/>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Codex</a:t>
            </a:r>
          </a:p>
        </p:txBody>
      </p:sp>
      <p:sp>
        <p:nvSpPr>
          <p:cNvPr id="15" name="">
            <a:extLst xmlns:a="http://schemas.openxmlformats.org/drawingml/2006/main">
              <a:ext uri="{FF2B5EF4-FFF2-40B4-BE49-F238E27FC236}">
                <a16:creationId xmlns:a16="http://schemas.microsoft.com/office/drawing/2014/main" id="{CA41B70E-8292-4DED-B477-472F4870D5CE}"/>
              </a:ext>
            </a:extLst>
          </p:cNvPr>
          <p:cNvSpPr>
            <a:spLocks xmlns:a="http://schemas.openxmlformats.org/drawingml/2006/main" noGrp="1"/>
          </p:cNvSpPr>
          <p:nvPr/>
        </p:nvSpPr>
        <p:spPr>
          <a:xfrm xmlns:a="http://schemas.openxmlformats.org/drawingml/2006/main">
            <a:off x="6972300" y="2114550"/>
            <a:ext cx="4381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7254330-6D88-41B4-92E9-4F74C2FFB05B}"/>
              </a:ext>
            </a:extLst>
          </p:cNvPr>
          <p:cNvSpPr>
            <a:spLocks xmlns:a="http://schemas.openxmlformats.org/drawingml/2006/main" noGrp="1"/>
          </p:cNvSpPr>
          <p:nvPr/>
        </p:nvSpPr>
        <p:spPr>
          <a:xfrm xmlns:a="http://schemas.openxmlformats.org/drawingml/2006/main">
            <a:off x="7410450" y="1657350"/>
            <a:ext cx="18097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17" name="">
            <a:extLst xmlns:a="http://schemas.openxmlformats.org/drawingml/2006/main">
              <a:ext uri="{FF2B5EF4-FFF2-40B4-BE49-F238E27FC236}">
                <a16:creationId xmlns:a16="http://schemas.microsoft.com/office/drawing/2014/main" id="{85CE9AEC-40EE-4AB6-A991-AEF8FB3F5988}"/>
              </a:ext>
            </a:extLst>
          </p:cNvPr>
          <p:cNvSpPr>
            <a:spLocks xmlns:a="http://schemas.openxmlformats.org/drawingml/2006/main" noGrp="1"/>
          </p:cNvSpPr>
          <p:nvPr/>
        </p:nvSpPr>
        <p:spPr>
          <a:xfrm xmlns:a="http://schemas.openxmlformats.org/drawingml/2006/main">
            <a:off x="7543800" y="1828800"/>
            <a:ext cx="1562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F5F1E8"/>
                </a:solidFill>
                <a:latin typeface="Noto Sans KR"/>
                <a:ea typeface="Noto Sans KR"/>
                <a:cs typeface="Noto Sans KR"/>
              </a:defRPr>
            </a:pPr>
            <a:r>
              <a:rPr sz="1200" b="1">
                <a:solidFill>
                  <a:srgbClr val="F5F1E8"/>
                </a:solidFill>
                <a:latin typeface="Noto Sans KR"/>
                <a:ea typeface="Noto Sans KR"/>
                <a:cs typeface="Noto Sans KR"/>
              </a:rPr>
              <a:t>4  테스트·수정</a:t>
            </a:r>
          </a:p>
        </p:txBody>
      </p:sp>
      <p:sp>
        <p:nvSpPr>
          <p:cNvPr id="18" name="">
            <a:extLst xmlns:a="http://schemas.openxmlformats.org/drawingml/2006/main">
              <a:ext uri="{FF2B5EF4-FFF2-40B4-BE49-F238E27FC236}">
                <a16:creationId xmlns:a16="http://schemas.microsoft.com/office/drawing/2014/main" id="{01461628-3F89-4B15-9A3E-2AD3E8A7DF0A}"/>
              </a:ext>
            </a:extLst>
          </p:cNvPr>
          <p:cNvSpPr>
            <a:spLocks xmlns:a="http://schemas.openxmlformats.org/drawingml/2006/main" noGrp="1"/>
          </p:cNvSpPr>
          <p:nvPr/>
        </p:nvSpPr>
        <p:spPr>
          <a:xfrm xmlns:a="http://schemas.openxmlformats.org/drawingml/2006/main">
            <a:off x="7543800" y="2190750"/>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defRPr sz="825" b="1">
                <a:solidFill>
                  <a:srgbClr val="78DCE8"/>
                </a:solidFill>
                <a:latin typeface="Noto Sans KR"/>
                <a:ea typeface="Noto Sans KR"/>
                <a:cs typeface="Noto Sans KR"/>
              </a:defRPr>
            </a:pPr>
            <a:r>
              <a:rPr sz="825" b="1">
                <a:solidFill>
                  <a:srgbClr val="78DCE8"/>
                </a:solidFill>
                <a:latin typeface="Noto Sans KR"/>
                <a:ea typeface="Noto Sans KR"/>
                <a:cs typeface="Noto Sans KR"/>
              </a:rPr>
              <a:t>25개 테스트</a:t>
            </a:r>
          </a:p>
        </p:txBody>
      </p:sp>
      <p:sp>
        <p:nvSpPr>
          <p:cNvPr id="19" name="">
            <a:extLst xmlns:a="http://schemas.openxmlformats.org/drawingml/2006/main">
              <a:ext uri="{FF2B5EF4-FFF2-40B4-BE49-F238E27FC236}">
                <a16:creationId xmlns:a16="http://schemas.microsoft.com/office/drawing/2014/main" id="{5EE97A62-1A91-4A8C-ACBE-64BE52429333}"/>
              </a:ext>
            </a:extLst>
          </p:cNvPr>
          <p:cNvSpPr>
            <a:spLocks xmlns:a="http://schemas.openxmlformats.org/drawingml/2006/main" noGrp="1"/>
          </p:cNvSpPr>
          <p:nvPr/>
        </p:nvSpPr>
        <p:spPr>
          <a:xfrm xmlns:a="http://schemas.openxmlformats.org/drawingml/2006/main">
            <a:off x="9220200" y="2114550"/>
            <a:ext cx="4381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64A66D7-6D16-4914-9A1D-9F9B26784201}"/>
              </a:ext>
            </a:extLst>
          </p:cNvPr>
          <p:cNvSpPr>
            <a:spLocks xmlns:a="http://schemas.openxmlformats.org/drawingml/2006/main" noGrp="1"/>
          </p:cNvSpPr>
          <p:nvPr/>
        </p:nvSpPr>
        <p:spPr>
          <a:xfrm xmlns:a="http://schemas.openxmlformats.org/drawingml/2006/main">
            <a:off x="9658350" y="1657350"/>
            <a:ext cx="18097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21" name="">
            <a:extLst xmlns:a="http://schemas.openxmlformats.org/drawingml/2006/main">
              <a:ext uri="{FF2B5EF4-FFF2-40B4-BE49-F238E27FC236}">
                <a16:creationId xmlns:a16="http://schemas.microsoft.com/office/drawing/2014/main" id="{B109F56A-A1BA-4D5B-847D-CD8985843E97}"/>
              </a:ext>
            </a:extLst>
          </p:cNvPr>
          <p:cNvSpPr>
            <a:spLocks xmlns:a="http://schemas.openxmlformats.org/drawingml/2006/main" noGrp="1"/>
          </p:cNvSpPr>
          <p:nvPr/>
        </p:nvSpPr>
        <p:spPr>
          <a:xfrm xmlns:a="http://schemas.openxmlformats.org/drawingml/2006/main">
            <a:off x="9791700" y="1828800"/>
            <a:ext cx="1562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F5F1E8"/>
                </a:solidFill>
                <a:latin typeface="Noto Sans KR"/>
                <a:ea typeface="Noto Sans KR"/>
                <a:cs typeface="Noto Sans KR"/>
              </a:defRPr>
            </a:pPr>
            <a:r>
              <a:rPr sz="1200" b="1">
                <a:solidFill>
                  <a:srgbClr val="F5F1E8"/>
                </a:solidFill>
                <a:latin typeface="Noto Sans KR"/>
                <a:ea typeface="Noto Sans KR"/>
                <a:cs typeface="Noto Sans KR"/>
              </a:rPr>
              <a:t>5  소스·배포</a:t>
            </a:r>
          </a:p>
        </p:txBody>
      </p:sp>
      <p:sp>
        <p:nvSpPr>
          <p:cNvPr id="22" name="">
            <a:extLst xmlns:a="http://schemas.openxmlformats.org/drawingml/2006/main">
              <a:ext uri="{FF2B5EF4-FFF2-40B4-BE49-F238E27FC236}">
                <a16:creationId xmlns:a16="http://schemas.microsoft.com/office/drawing/2014/main" id="{01234592-CE06-41F6-A214-7C6927DCFC10}"/>
              </a:ext>
            </a:extLst>
          </p:cNvPr>
          <p:cNvSpPr>
            <a:spLocks xmlns:a="http://schemas.openxmlformats.org/drawingml/2006/main" noGrp="1"/>
          </p:cNvSpPr>
          <p:nvPr/>
        </p:nvSpPr>
        <p:spPr>
          <a:xfrm xmlns:a="http://schemas.openxmlformats.org/drawingml/2006/main">
            <a:off x="9791700" y="2190750"/>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GitHub · Vercel</a:t>
            </a:r>
          </a:p>
        </p:txBody>
      </p:sp>
      <p:sp>
        <p:nvSpPr>
          <p:cNvPr id="23" name="">
            <a:extLst xmlns:a="http://schemas.openxmlformats.org/drawingml/2006/main">
              <a:ext uri="{FF2B5EF4-FFF2-40B4-BE49-F238E27FC236}">
                <a16:creationId xmlns:a16="http://schemas.microsoft.com/office/drawing/2014/main" id="{B29448BB-286D-41A7-A786-A98C9FBDABD1}"/>
              </a:ext>
            </a:extLst>
          </p:cNvPr>
          <p:cNvSpPr>
            <a:spLocks xmlns:a="http://schemas.openxmlformats.org/drawingml/2006/main" noGrp="1"/>
          </p:cNvSpPr>
          <p:nvPr/>
        </p:nvSpPr>
        <p:spPr>
          <a:xfrm xmlns:a="http://schemas.openxmlformats.org/drawingml/2006/main">
            <a:off x="666750" y="3086100"/>
            <a:ext cx="7239000" cy="2514600"/>
          </a:xfrm>
          <a:prstGeom xmlns:a="http://schemas.openxmlformats.org/drawingml/2006/main" prst="roundRect">
            <a:avLst>
              <a:gd name="adj" fmla="val 5303"/>
            </a:avLst>
          </a:prstGeom>
          <a:solidFill xmlns:a="http://schemas.openxmlformats.org/drawingml/2006/main">
            <a:srgbClr val="14233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B1FBB38-71EA-4717-8D74-5CE61373FA82}"/>
              </a:ext>
            </a:extLst>
          </p:cNvPr>
          <p:cNvSpPr>
            <a:spLocks xmlns:a="http://schemas.openxmlformats.org/drawingml/2006/main" noGrp="1"/>
          </p:cNvSpPr>
          <p:nvPr/>
        </p:nvSpPr>
        <p:spPr>
          <a:xfrm xmlns:a="http://schemas.openxmlformats.org/drawingml/2006/main">
            <a:off x="914400" y="333375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E07A6F"/>
                </a:solidFill>
                <a:latin typeface="Noto Sans KR"/>
                <a:ea typeface="Noto Sans KR"/>
                <a:cs typeface="Noto Sans KR"/>
              </a:defRPr>
            </a:pPr>
            <a:r>
              <a:rPr sz="1050" b="1">
                <a:solidFill>
                  <a:srgbClr val="E07A6F"/>
                </a:solidFill>
                <a:latin typeface="Noto Sans KR"/>
                <a:ea typeface="Noto Sans KR"/>
                <a:cs typeface="Noto Sans KR"/>
              </a:rPr>
              <a:t>해결한 대표 오류</a:t>
            </a:r>
          </a:p>
        </p:txBody>
      </p:sp>
      <p:sp>
        <p:nvSpPr>
          <p:cNvPr id="25" name="">
            <a:extLst xmlns:a="http://schemas.openxmlformats.org/drawingml/2006/main">
              <a:ext uri="{FF2B5EF4-FFF2-40B4-BE49-F238E27FC236}">
                <a16:creationId xmlns:a16="http://schemas.microsoft.com/office/drawing/2014/main" id="{090D4078-3502-4632-93E8-2AE89D89B8DA}"/>
              </a:ext>
            </a:extLst>
          </p:cNvPr>
          <p:cNvSpPr>
            <a:spLocks xmlns:a="http://schemas.openxmlformats.org/drawingml/2006/main" noGrp="1"/>
          </p:cNvSpPr>
          <p:nvPr/>
        </p:nvSpPr>
        <p:spPr>
          <a:xfrm xmlns:a="http://schemas.openxmlformats.org/drawingml/2006/main">
            <a:off x="914400" y="371475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F5F1E8"/>
                </a:solidFill>
                <a:latin typeface="Noto Sans KR"/>
                <a:ea typeface="Noto Sans KR"/>
                <a:cs typeface="Noto Sans KR"/>
              </a:defRPr>
            </a:pPr>
            <a:r>
              <a:rPr sz="1800" b="1">
                <a:solidFill>
                  <a:srgbClr val="F5F1E8"/>
                </a:solidFill>
                <a:latin typeface="Noto Sans KR"/>
                <a:ea typeface="Noto Sans KR"/>
                <a:cs typeface="Noto Sans KR"/>
              </a:rPr>
              <a:t>Vercel이 public 폴더를 찾지 못해 배포 실패</a:t>
            </a:r>
          </a:p>
        </p:txBody>
      </p:sp>
      <p:sp>
        <p:nvSpPr>
          <p:cNvPr id="26" name="">
            <a:extLst xmlns:a="http://schemas.openxmlformats.org/drawingml/2006/main">
              <a:ext uri="{FF2B5EF4-FFF2-40B4-BE49-F238E27FC236}">
                <a16:creationId xmlns:a16="http://schemas.microsoft.com/office/drawing/2014/main" id="{A434F139-B174-49D5-8E58-50324792A9EB}"/>
              </a:ext>
            </a:extLst>
          </p:cNvPr>
          <p:cNvSpPr>
            <a:spLocks xmlns:a="http://schemas.openxmlformats.org/drawingml/2006/main" noGrp="1"/>
          </p:cNvSpPr>
          <p:nvPr/>
        </p:nvSpPr>
        <p:spPr>
          <a:xfrm xmlns:a="http://schemas.openxmlformats.org/drawingml/2006/main">
            <a:off x="914400" y="43053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1. 오류 메시지와 빌드 결과 확인</a:t>
            </a:r>
          </a:p>
        </p:txBody>
      </p:sp>
      <p:sp>
        <p:nvSpPr>
          <p:cNvPr id="27" name="">
            <a:extLst xmlns:a="http://schemas.openxmlformats.org/drawingml/2006/main">
              <a:ext uri="{FF2B5EF4-FFF2-40B4-BE49-F238E27FC236}">
                <a16:creationId xmlns:a16="http://schemas.microsoft.com/office/drawing/2014/main" id="{2D06ADC7-8418-4469-95D1-841818F951CF}"/>
              </a:ext>
            </a:extLst>
          </p:cNvPr>
          <p:cNvSpPr>
            <a:spLocks xmlns:a="http://schemas.openxmlformats.org/drawingml/2006/main" noGrp="1"/>
          </p:cNvSpPr>
          <p:nvPr/>
        </p:nvSpPr>
        <p:spPr>
          <a:xfrm xmlns:a="http://schemas.openxmlformats.org/drawingml/2006/main">
            <a:off x="914400" y="46482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2. 실제 출력 폴더가 dist임을 확인</a:t>
            </a:r>
          </a:p>
        </p:txBody>
      </p:sp>
      <p:sp>
        <p:nvSpPr>
          <p:cNvPr id="28" name="">
            <a:extLst xmlns:a="http://schemas.openxmlformats.org/drawingml/2006/main">
              <a:ext uri="{FF2B5EF4-FFF2-40B4-BE49-F238E27FC236}">
                <a16:creationId xmlns:a16="http://schemas.microsoft.com/office/drawing/2014/main" id="{92D94FAF-63D0-4302-80E2-43095CA56107}"/>
              </a:ext>
            </a:extLst>
          </p:cNvPr>
          <p:cNvSpPr>
            <a:spLocks xmlns:a="http://schemas.openxmlformats.org/drawingml/2006/main" noGrp="1"/>
          </p:cNvSpPr>
          <p:nvPr/>
        </p:nvSpPr>
        <p:spPr>
          <a:xfrm xmlns:a="http://schemas.openxmlformats.org/drawingml/2006/main">
            <a:off x="914400" y="49911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1">
                <a:solidFill>
                  <a:srgbClr val="78DCE8"/>
                </a:solidFill>
                <a:latin typeface="Noto Sans KR"/>
                <a:ea typeface="Noto Sans KR"/>
                <a:cs typeface="Noto Sans KR"/>
              </a:defRPr>
            </a:pPr>
            <a:r>
              <a:rPr sz="1125" b="1">
                <a:solidFill>
                  <a:srgbClr val="78DCE8"/>
                </a:solidFill>
                <a:latin typeface="Noto Sans KR"/>
                <a:ea typeface="Noto Sans KR"/>
                <a:cs typeface="Noto Sans KR"/>
              </a:rPr>
              <a:t>3. vercel.json의 outputDirectory를 dist로 수정</a:t>
            </a:r>
          </a:p>
        </p:txBody>
      </p:sp>
      <p:sp>
        <p:nvSpPr>
          <p:cNvPr id="29" name="">
            <a:extLst xmlns:a="http://schemas.openxmlformats.org/drawingml/2006/main">
              <a:ext uri="{FF2B5EF4-FFF2-40B4-BE49-F238E27FC236}">
                <a16:creationId xmlns:a16="http://schemas.microsoft.com/office/drawing/2014/main" id="{0AEE8FAF-AA78-4B1A-BBE2-875ACB0AB1CA}"/>
              </a:ext>
            </a:extLst>
          </p:cNvPr>
          <p:cNvSpPr>
            <a:spLocks xmlns:a="http://schemas.openxmlformats.org/drawingml/2006/main" noGrp="1"/>
          </p:cNvSpPr>
          <p:nvPr/>
        </p:nvSpPr>
        <p:spPr>
          <a:xfrm xmlns:a="http://schemas.openxmlformats.org/drawingml/2006/main">
            <a:off x="8172450" y="3086100"/>
            <a:ext cx="3390900" cy="2514600"/>
          </a:xfrm>
          <a:prstGeom xmlns:a="http://schemas.openxmlformats.org/drawingml/2006/main" prst="roundRect">
            <a:avLst>
              <a:gd name="adj" fmla="val 5303"/>
            </a:avLst>
          </a:prstGeom>
          <a:solidFill xmlns:a="http://schemas.openxmlformats.org/drawingml/2006/main">
            <a:srgbClr val="0E1B2B"/>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69bb213ba5a44451"/>
          <a:stretch xmlns:a="http://schemas.openxmlformats.org/drawingml/2006/main"/>
        </p:blipFill>
        <p:spPr>
          <a:xfrm xmlns:a="http://schemas.openxmlformats.org/drawingml/2006/main">
            <a:off x="8458200" y="3333750"/>
            <a:ext cx="952500" cy="952500"/>
          </a:xfrm>
          <a:prstGeom xmlns:a="http://schemas.openxmlformats.org/drawingml/2006/main" prst="rect">
            <a:avLst/>
          </a:prstGeom>
        </p:spPr>
      </p:pic>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b644c6df7b434cb6"/>
          <a:stretch xmlns:a="http://schemas.openxmlformats.org/drawingml/2006/main"/>
        </p:blipFill>
        <p:spPr>
          <a:xfrm xmlns:a="http://schemas.openxmlformats.org/drawingml/2006/main">
            <a:off x="9791700" y="3333750"/>
            <a:ext cx="952500" cy="9525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F1EBA401-B7D5-4FBB-BF75-46AF1115872E}"/>
              </a:ext>
            </a:extLst>
          </p:cNvPr>
          <p:cNvSpPr>
            <a:spLocks xmlns:a="http://schemas.openxmlformats.org/drawingml/2006/main" noGrp="1"/>
          </p:cNvSpPr>
          <p:nvPr/>
        </p:nvSpPr>
        <p:spPr>
          <a:xfrm xmlns:a="http://schemas.openxmlformats.org/drawingml/2006/main">
            <a:off x="8439150" y="44958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lgn="l">
              <a:defRPr sz="1650" b="1">
                <a:solidFill>
                  <a:srgbClr val="F5F1E8"/>
                </a:solidFill>
                <a:latin typeface="Noto Sans KR"/>
                <a:ea typeface="Noto Sans KR"/>
                <a:cs typeface="Noto Sans KR"/>
              </a:defRPr>
            </a:pPr>
            <a:r>
              <a:rPr sz="1650" b="1">
                <a:solidFill>
                  <a:srgbClr val="F5F1E8"/>
                </a:solidFill>
                <a:latin typeface="Noto Sans KR"/>
                <a:ea typeface="Noto Sans KR"/>
                <a:cs typeface="Noto Sans KR"/>
              </a:rPr>
              <a:t>이미지 16개</a:t>
            </a:r>
          </a:p>
        </p:txBody>
      </p:sp>
      <p:sp>
        <p:nvSpPr>
          <p:cNvPr id="33" name="">
            <a:extLst xmlns:a="http://schemas.openxmlformats.org/drawingml/2006/main">
              <a:ext uri="{FF2B5EF4-FFF2-40B4-BE49-F238E27FC236}">
                <a16:creationId xmlns:a16="http://schemas.microsoft.com/office/drawing/2014/main" id="{30225473-612A-4D04-9541-AEE2B97BFC5D}"/>
              </a:ext>
            </a:extLst>
          </p:cNvPr>
          <p:cNvSpPr>
            <a:spLocks xmlns:a="http://schemas.openxmlformats.org/drawingml/2006/main" noGrp="1"/>
          </p:cNvSpPr>
          <p:nvPr/>
        </p:nvSpPr>
        <p:spPr>
          <a:xfrm xmlns:a="http://schemas.openxmlformats.org/drawingml/2006/main">
            <a:off x="8439150" y="49149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배경음 7 · 효과음 22</a:t>
            </a:r>
          </a:p>
        </p:txBody>
      </p:sp>
      <p:sp>
        <p:nvSpPr>
          <p:cNvPr id="34" name="">
            <a:extLst xmlns:a="http://schemas.openxmlformats.org/drawingml/2006/main">
              <a:ext uri="{FF2B5EF4-FFF2-40B4-BE49-F238E27FC236}">
                <a16:creationId xmlns:a16="http://schemas.microsoft.com/office/drawing/2014/main" id="{86A6EFF7-50D3-4BD6-90AF-CF9D3545B74C}"/>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05</a:t>
            </a:r>
          </a:p>
        </p:txBody>
      </p:sp>
    </p:spTree>
    <p:extLst>
      <p:ext uri="{BB962C8B-B14F-4D97-AF65-F5344CB8AC3E}">
        <p14:creationId xmlns:p14="http://schemas.microsoft.com/office/powerpoint/2010/main" val="802454480"/>
      </p:ext>
    </p:extLst>
  </p:cSld>
</p:sld>
</file>

<file path=ppt/slides/slide6.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cfd731baf3f48f2"/>
          <a:srcRect xmlns:a="http://schemas.openxmlformats.org/drawingml/2006/main" l="0" t="14317" r="0" b="1431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F62DE1-74C9-44B5-A74C-B774EFAEE09F}"/>
              </a:ext>
            </a:extLst>
          </p:cNvPr>
          <p:cNvSpPr>
            <a:spLocks xmlns:a="http://schemas.openxmlformats.org/drawingml/2006/main" noGrp="1"/>
          </p:cNvSpPr>
          <p:nvPr/>
        </p:nvSpPr>
        <p:spPr>
          <a:xfrm xmlns:a="http://schemas.openxmlformats.org/drawingml/2006/main">
            <a:off x="0" y="0"/>
            <a:ext cx="6705600" cy="6858000"/>
          </a:xfrm>
          <a:prstGeom xmlns:a="http://schemas.openxmlformats.org/drawingml/2006/main" prst="rect">
            <a:avLst/>
          </a:prstGeom>
          <a:solidFill xmlns:a="http://schemas.openxmlformats.org/drawingml/2006/main">
            <a:srgbClr val="0712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84F810-0637-4F3A-B5CA-081ED99BC7FE}"/>
              </a:ext>
            </a:extLst>
          </p:cNvPr>
          <p:cNvSpPr>
            <a:spLocks xmlns:a="http://schemas.openxmlformats.org/drawingml/2006/main" noGrp="1"/>
          </p:cNvSpPr>
          <p:nvPr/>
        </p:nvSpPr>
        <p:spPr>
          <a:xfrm xmlns:a="http://schemas.openxmlformats.org/drawingml/2006/main">
            <a:off x="685800" y="5524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결과와 다음 단계</a:t>
            </a:r>
          </a:p>
        </p:txBody>
      </p:sp>
      <p:sp>
        <p:nvSpPr>
          <p:cNvPr id="4" name="">
            <a:extLst xmlns:a="http://schemas.openxmlformats.org/drawingml/2006/main">
              <a:ext uri="{FF2B5EF4-FFF2-40B4-BE49-F238E27FC236}">
                <a16:creationId xmlns:a16="http://schemas.microsoft.com/office/drawing/2014/main" id="{99288FA3-EF73-4A1B-9DDD-4E3CA2DE5A32}"/>
              </a:ext>
            </a:extLst>
          </p:cNvPr>
          <p:cNvSpPr>
            <a:spLocks xmlns:a="http://schemas.openxmlformats.org/drawingml/2006/main" noGrp="1"/>
          </p:cNvSpPr>
          <p:nvPr/>
        </p:nvSpPr>
        <p:spPr>
          <a:xfrm xmlns:a="http://schemas.openxmlformats.org/drawingml/2006/main">
            <a:off x="685800" y="9144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F5F1E8"/>
                </a:solidFill>
                <a:latin typeface="Noto Sans KR"/>
                <a:ea typeface="Noto Sans KR"/>
                <a:cs typeface="Noto Sans KR"/>
              </a:defRPr>
            </a:pPr>
            <a:r>
              <a:rPr sz="2625" b="1">
                <a:solidFill>
                  <a:srgbClr val="F5F1E8"/>
                </a:solidFill>
                <a:latin typeface="Noto Sans KR"/>
                <a:ea typeface="Noto Sans KR"/>
                <a:cs typeface="Noto Sans KR"/>
              </a:rPr>
              <a:t>지금 바로 플레이할 수 있습니다</a:t>
            </a:r>
          </a:p>
        </p:txBody>
      </p:sp>
      <p:sp>
        <p:nvSpPr>
          <p:cNvPr id="5" name="">
            <a:extLst xmlns:a="http://schemas.openxmlformats.org/drawingml/2006/main">
              <a:ext uri="{FF2B5EF4-FFF2-40B4-BE49-F238E27FC236}">
                <a16:creationId xmlns:a16="http://schemas.microsoft.com/office/drawing/2014/main" id="{1AA65BCE-718B-49F7-93FA-F11FB66080C9}"/>
              </a:ext>
            </a:extLst>
          </p:cNvPr>
          <p:cNvSpPr>
            <a:spLocks xmlns:a="http://schemas.openxmlformats.org/drawingml/2006/main" noGrp="1"/>
          </p:cNvSpPr>
          <p:nvPr/>
        </p:nvSpPr>
        <p:spPr>
          <a:xfrm xmlns:a="http://schemas.openxmlformats.org/drawingml/2006/main">
            <a:off x="685800" y="1657350"/>
            <a:ext cx="5257800" cy="1257300"/>
          </a:xfrm>
          <a:prstGeom xmlns:a="http://schemas.openxmlformats.org/drawingml/2006/main" prst="roundRect">
            <a:avLst>
              <a:gd name="adj" fmla="val 9091"/>
            </a:avLst>
          </a:prstGeom>
          <a:solidFill xmlns:a="http://schemas.openxmlformats.org/drawingml/2006/main">
            <a:srgbClr val="14233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ED565E7-2BED-424C-B83A-7AAE2A326236}"/>
              </a:ext>
            </a:extLst>
          </p:cNvPr>
          <p:cNvSpPr>
            <a:spLocks xmlns:a="http://schemas.openxmlformats.org/drawingml/2006/main" noGrp="1"/>
          </p:cNvSpPr>
          <p:nvPr/>
        </p:nvSpPr>
        <p:spPr>
          <a:xfrm xmlns:a="http://schemas.openxmlformats.org/drawingml/2006/main">
            <a:off x="914400" y="188595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GAME</a:t>
            </a:r>
          </a:p>
        </p:txBody>
      </p:sp>
      <p:sp>
        <p:nvSpPr>
          <p:cNvPr id="7" name="">
            <a:extLst xmlns:a="http://schemas.openxmlformats.org/drawingml/2006/main">
              <a:ext uri="{FF2B5EF4-FFF2-40B4-BE49-F238E27FC236}">
                <a16:creationId xmlns:a16="http://schemas.microsoft.com/office/drawing/2014/main" id="{2C8738C5-FC60-4184-927D-8D4A4FA2B284}"/>
              </a:ext>
            </a:extLst>
          </p:cNvPr>
          <p:cNvSpPr>
            <a:spLocks xmlns:a="http://schemas.openxmlformats.org/drawingml/2006/main" noGrp="1"/>
          </p:cNvSpPr>
          <p:nvPr/>
        </p:nvSpPr>
        <p:spPr>
          <a:xfrm xmlns:a="http://schemas.openxmlformats.org/drawingml/2006/main">
            <a:off x="914400" y="21907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78DCE8"/>
                </a:solidFill>
                <a:latin typeface="Noto Sans KR"/>
                <a:ea typeface="Noto Sans KR"/>
                <a:cs typeface="Noto Sans KR"/>
              </a:defRPr>
            </a:pPr>
            <a:r>
              <a:rPr sz="1425" b="1">
                <a:solidFill>
                  <a:srgbClr val="78DCE8"/>
                </a:solidFill>
                <a:latin typeface="Noto Sans KR"/>
                <a:ea typeface="Noto Sans KR"/>
                <a:cs typeface="Noto Sans KR"/>
              </a:rPr>
              <a:t>rewind-tower.vercel.app</a:t>
            </a:r>
          </a:p>
        </p:txBody>
      </p:sp>
      <p:sp>
        <p:nvSpPr>
          <p:cNvPr id="8" name="">
            <a:extLst xmlns:a="http://schemas.openxmlformats.org/drawingml/2006/main">
              <a:ext uri="{FF2B5EF4-FFF2-40B4-BE49-F238E27FC236}">
                <a16:creationId xmlns:a16="http://schemas.microsoft.com/office/drawing/2014/main" id="{542ABDB2-9C78-47D3-A9E0-40C1F70DFBD1}"/>
              </a:ext>
            </a:extLst>
          </p:cNvPr>
          <p:cNvSpPr>
            <a:spLocks xmlns:a="http://schemas.openxmlformats.org/drawingml/2006/main" noGrp="1"/>
          </p:cNvSpPr>
          <p:nvPr/>
        </p:nvSpPr>
        <p:spPr>
          <a:xfrm xmlns:a="http://schemas.openxmlformats.org/drawingml/2006/main">
            <a:off x="914400" y="255270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SOURCE</a:t>
            </a:r>
          </a:p>
        </p:txBody>
      </p:sp>
      <p:sp>
        <p:nvSpPr>
          <p:cNvPr id="9" name="">
            <a:extLst xmlns:a="http://schemas.openxmlformats.org/drawingml/2006/main">
              <a:ext uri="{FF2B5EF4-FFF2-40B4-BE49-F238E27FC236}">
                <a16:creationId xmlns:a16="http://schemas.microsoft.com/office/drawing/2014/main" id="{DB4D32B0-A182-40B9-AC01-18CED3E33022}"/>
              </a:ext>
            </a:extLst>
          </p:cNvPr>
          <p:cNvSpPr>
            <a:spLocks xmlns:a="http://schemas.openxmlformats.org/drawingml/2006/main" noGrp="1"/>
          </p:cNvSpPr>
          <p:nvPr/>
        </p:nvSpPr>
        <p:spPr>
          <a:xfrm xmlns:a="http://schemas.openxmlformats.org/drawingml/2006/main">
            <a:off x="1676400" y="25527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l">
              <a:defRPr sz="900" b="0">
                <a:solidFill>
                  <a:srgbClr val="A9B7C7"/>
                </a:solidFill>
                <a:latin typeface="Noto Sans KR"/>
                <a:ea typeface="Noto Sans KR"/>
                <a:cs typeface="Noto Sans KR"/>
              </a:defRPr>
            </a:pPr>
            <a:r>
              <a:rPr sz="900" b="0">
                <a:solidFill>
                  <a:srgbClr val="A9B7C7"/>
                </a:solidFill>
                <a:latin typeface="Noto Sans KR"/>
                <a:ea typeface="Noto Sans KR"/>
                <a:cs typeface="Noto Sans KR"/>
              </a:rPr>
              <a:t>github.com/sonyeowoon/Rewind-Tower</a:t>
            </a:r>
          </a:p>
        </p:txBody>
      </p:sp>
      <p:sp>
        <p:nvSpPr>
          <p:cNvPr id="10" name="">
            <a:extLst xmlns:a="http://schemas.openxmlformats.org/drawingml/2006/main">
              <a:ext uri="{FF2B5EF4-FFF2-40B4-BE49-F238E27FC236}">
                <a16:creationId xmlns:a16="http://schemas.microsoft.com/office/drawing/2014/main" id="{B067D24C-15B0-4368-9471-97E905E14D60}"/>
              </a:ext>
            </a:extLst>
          </p:cNvPr>
          <p:cNvSpPr>
            <a:spLocks xmlns:a="http://schemas.openxmlformats.org/drawingml/2006/main" noGrp="1"/>
          </p:cNvSpPr>
          <p:nvPr/>
        </p:nvSpPr>
        <p:spPr>
          <a:xfrm xmlns:a="http://schemas.openxmlformats.org/drawingml/2006/main">
            <a:off x="685800" y="32956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D8B35E"/>
                </a:solidFill>
                <a:latin typeface="Noto Sans KR"/>
                <a:ea typeface="Noto Sans KR"/>
                <a:cs typeface="Noto Sans KR"/>
              </a:defRPr>
            </a:pPr>
            <a:r>
              <a:rPr sz="1050" b="1">
                <a:solidFill>
                  <a:srgbClr val="D8B35E"/>
                </a:solidFill>
                <a:latin typeface="Noto Sans KR"/>
                <a:ea typeface="Noto Sans KR"/>
                <a:cs typeface="Noto Sans KR"/>
              </a:rPr>
              <a:t>다음 개선 방향</a:t>
            </a:r>
          </a:p>
        </p:txBody>
      </p:sp>
      <p:sp>
        <p:nvSpPr>
          <p:cNvPr id="11" name="">
            <a:extLst xmlns:a="http://schemas.openxmlformats.org/drawingml/2006/main">
              <a:ext uri="{FF2B5EF4-FFF2-40B4-BE49-F238E27FC236}">
                <a16:creationId xmlns:a16="http://schemas.microsoft.com/office/drawing/2014/main" id="{31060A47-980A-4288-B459-E224149C2DD9}"/>
              </a:ext>
            </a:extLst>
          </p:cNvPr>
          <p:cNvSpPr>
            <a:spLocks xmlns:a="http://schemas.openxmlformats.org/drawingml/2006/main" noGrp="1"/>
          </p:cNvSpPr>
          <p:nvPr/>
        </p:nvSpPr>
        <p:spPr>
          <a:xfrm xmlns:a="http://schemas.openxmlformats.org/drawingml/2006/main">
            <a:off x="685800" y="36766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F5F1E8"/>
                </a:solidFill>
                <a:latin typeface="Noto Sans KR"/>
                <a:ea typeface="Noto Sans KR"/>
                <a:cs typeface="Noto Sans KR"/>
              </a:defRPr>
            </a:pPr>
            <a:r>
              <a:rPr sz="1725" b="1">
                <a:solidFill>
                  <a:srgbClr val="F5F1E8"/>
                </a:solidFill>
                <a:latin typeface="Noto Sans KR"/>
                <a:ea typeface="Noto Sans KR"/>
                <a:cs typeface="Noto Sans KR"/>
              </a:rPr>
              <a:t>01  맵 구조를 한 번 더 다듬기</a:t>
            </a:r>
          </a:p>
        </p:txBody>
      </p:sp>
      <p:sp>
        <p:nvSpPr>
          <p:cNvPr id="12" name="">
            <a:extLst xmlns:a="http://schemas.openxmlformats.org/drawingml/2006/main">
              <a:ext uri="{FF2B5EF4-FFF2-40B4-BE49-F238E27FC236}">
                <a16:creationId xmlns:a16="http://schemas.microsoft.com/office/drawing/2014/main" id="{4F8B35DA-BDF9-47C3-AFA8-693D095219C7}"/>
              </a:ext>
            </a:extLst>
          </p:cNvPr>
          <p:cNvSpPr>
            <a:spLocks xmlns:a="http://schemas.openxmlformats.org/drawingml/2006/main" noGrp="1"/>
          </p:cNvSpPr>
          <p:nvPr/>
        </p:nvSpPr>
        <p:spPr>
          <a:xfrm xmlns:a="http://schemas.openxmlformats.org/drawingml/2006/main">
            <a:off x="685800" y="409575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공중섬·서고·나선 등으로 다양화했지만 남아 있는</a:t>
            </a:r>
          </a:p>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긴 통로와 반복 동선을 분기·선택 경로로 보강합니다.</a:t>
            </a:r>
          </a:p>
        </p:txBody>
      </p:sp>
      <p:sp>
        <p:nvSpPr>
          <p:cNvPr id="13" name="">
            <a:extLst xmlns:a="http://schemas.openxmlformats.org/drawingml/2006/main">
              <a:ext uri="{FF2B5EF4-FFF2-40B4-BE49-F238E27FC236}">
                <a16:creationId xmlns:a16="http://schemas.microsoft.com/office/drawing/2014/main" id="{4963301A-1ABD-4899-8697-ABBEB1F1796F}"/>
              </a:ext>
            </a:extLst>
          </p:cNvPr>
          <p:cNvSpPr>
            <a:spLocks xmlns:a="http://schemas.openxmlformats.org/drawingml/2006/main" noGrp="1"/>
          </p:cNvSpPr>
          <p:nvPr/>
        </p:nvSpPr>
        <p:spPr>
          <a:xfrm xmlns:a="http://schemas.openxmlformats.org/drawingml/2006/main">
            <a:off x="685800" y="48958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F5F1E8"/>
                </a:solidFill>
                <a:latin typeface="Noto Sans KR"/>
                <a:ea typeface="Noto Sans KR"/>
                <a:cs typeface="Noto Sans KR"/>
              </a:defRPr>
            </a:pPr>
            <a:r>
              <a:rPr sz="1650" b="1">
                <a:solidFill>
                  <a:srgbClr val="F5F1E8"/>
                </a:solidFill>
                <a:latin typeface="Noto Sans KR"/>
                <a:ea typeface="Noto Sans KR"/>
                <a:cs typeface="Noto Sans KR"/>
              </a:rPr>
              <a:t>02  시간 스위치와 움직이는 다리</a:t>
            </a:r>
          </a:p>
        </p:txBody>
      </p:sp>
      <p:sp>
        <p:nvSpPr>
          <p:cNvPr id="14" name="">
            <a:extLst xmlns:a="http://schemas.openxmlformats.org/drawingml/2006/main">
              <a:ext uri="{FF2B5EF4-FFF2-40B4-BE49-F238E27FC236}">
                <a16:creationId xmlns:a16="http://schemas.microsoft.com/office/drawing/2014/main" id="{AA6D77B4-F143-40AF-8C96-660FA767FEF5}"/>
              </a:ext>
            </a:extLst>
          </p:cNvPr>
          <p:cNvSpPr>
            <a:spLocks xmlns:a="http://schemas.openxmlformats.org/drawingml/2006/main" noGrp="1"/>
          </p:cNvSpPr>
          <p:nvPr/>
        </p:nvSpPr>
        <p:spPr>
          <a:xfrm xmlns:a="http://schemas.openxmlformats.org/drawingml/2006/main">
            <a:off x="685800" y="5314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78DCE8"/>
                </a:solidFill>
                <a:latin typeface="Noto Sans KR"/>
                <a:ea typeface="Noto Sans KR"/>
                <a:cs typeface="Noto Sans KR"/>
              </a:defRPr>
            </a:pPr>
            <a:r>
              <a:rPr sz="1125" b="1">
                <a:solidFill>
                  <a:srgbClr val="78DCE8"/>
                </a:solidFill>
                <a:latin typeface="Noto Sans KR"/>
                <a:ea typeface="Noto Sans KR"/>
                <a:cs typeface="Noto Sans KR"/>
              </a:rPr>
              <a:t>지형을 바꾼 뒤 되감아 새로 열린 길을 이용하게 합니다.</a:t>
            </a:r>
          </a:p>
        </p:txBody>
      </p:sp>
      <p:sp>
        <p:nvSpPr>
          <p:cNvPr id="15" name="">
            <a:extLst xmlns:a="http://schemas.openxmlformats.org/drawingml/2006/main">
              <a:ext uri="{FF2B5EF4-FFF2-40B4-BE49-F238E27FC236}">
                <a16:creationId xmlns:a16="http://schemas.microsoft.com/office/drawing/2014/main" id="{154A1122-E307-4E85-A81C-C7E9EF94D207}"/>
              </a:ext>
            </a:extLst>
          </p:cNvPr>
          <p:cNvSpPr>
            <a:spLocks xmlns:a="http://schemas.openxmlformats.org/drawingml/2006/main" noGrp="1"/>
          </p:cNvSpPr>
          <p:nvPr/>
        </p:nvSpPr>
        <p:spPr>
          <a:xfrm xmlns:a="http://schemas.openxmlformats.org/drawingml/2006/main">
            <a:off x="685800" y="592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1">
                <a:solidFill>
                  <a:srgbClr val="F5F1E8"/>
                </a:solidFill>
                <a:latin typeface="Noto Sans KR"/>
                <a:ea typeface="Noto Sans KR"/>
                <a:cs typeface="Noto Sans KR"/>
              </a:defRPr>
            </a:pPr>
            <a:r>
              <a:rPr sz="1425" b="1">
                <a:solidFill>
                  <a:srgbClr val="F5F1E8"/>
                </a:solidFill>
                <a:latin typeface="Noto Sans KR"/>
                <a:ea typeface="Noto Sans KR"/>
                <a:cs typeface="Noto Sans KR"/>
              </a:rPr>
              <a:t>감사합니다</a:t>
            </a:r>
          </a:p>
        </p:txBody>
      </p:sp>
      <p:sp>
        <p:nvSpPr>
          <p:cNvPr id="16" name="">
            <a:extLst xmlns:a="http://schemas.openxmlformats.org/drawingml/2006/main">
              <a:ext uri="{FF2B5EF4-FFF2-40B4-BE49-F238E27FC236}">
                <a16:creationId xmlns:a16="http://schemas.microsoft.com/office/drawing/2014/main" id="{A8F96034-4471-4CAF-B97F-BFBF2D266E9F}"/>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06</a:t>
            </a:r>
          </a:p>
        </p:txBody>
      </p:sp>
    </p:spTree>
    <p:extLst>
      <p:ext uri="{BB962C8B-B14F-4D97-AF65-F5344CB8AC3E}">
        <p14:creationId xmlns:p14="http://schemas.microsoft.com/office/powerpoint/2010/main" val="426883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2026-09-12T08:34:30.5200000Z</dcterms:created>
  <dcterms:modified xsi:type="dcterms:W3CDTF">2026-09-12T08:34:30.5200000Z</dcterms:modified>
</coreProperties>
</file>